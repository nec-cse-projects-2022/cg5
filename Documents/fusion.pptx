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7" r:id="rId14"/>
    <p:sldId id="276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946" y="11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2277295" y="0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94283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167467" y="2475309"/>
            <a:ext cx="17339733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2277295" y="4885432"/>
            <a:ext cx="9392356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94813" y="642938"/>
            <a:ext cx="3086100" cy="17367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25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0453" y="1275714"/>
            <a:ext cx="4994910" cy="4387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911" y="39623"/>
            <a:ext cx="3666744" cy="5029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2682" y="552399"/>
            <a:ext cx="9665970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12841" y="1745742"/>
            <a:ext cx="6598284" cy="3378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30014" y="6448890"/>
            <a:ext cx="74676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81639" y="6448890"/>
            <a:ext cx="235584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6-3417/15/7/3910" TargetMode="External"/><Relationship Id="rId2" Type="http://schemas.openxmlformats.org/officeDocument/2006/relationships/hyperlink" Target="https://ieeexplore.ieee.org/document/1041822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2352340925004445" TargetMode="External"/><Relationship Id="rId5" Type="http://schemas.openxmlformats.org/officeDocument/2006/relationships/hyperlink" Target="https://ieeexplore.ieee.org/document/10663410" TargetMode="External"/><Relationship Id="rId4" Type="http://schemas.openxmlformats.org/officeDocument/2006/relationships/hyperlink" Target="https://link.springer.com/article/10.1007/s00521-025-11038-3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chattinavya@gmail.com" TargetMode="External"/><Relationship Id="rId2" Type="http://schemas.openxmlformats.org/officeDocument/2006/relationships/hyperlink" Target="mailto:soudagarminhaz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5346" y="622932"/>
            <a:ext cx="9531350" cy="1012190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465"/>
              </a:spcBef>
            </a:pPr>
            <a:r>
              <a:rPr sz="1800" dirty="0"/>
              <a:t>Department</a:t>
            </a:r>
            <a:r>
              <a:rPr sz="1800" spc="-5" dirty="0"/>
              <a:t> </a:t>
            </a:r>
            <a:r>
              <a:rPr sz="1800" dirty="0"/>
              <a:t>of</a:t>
            </a:r>
            <a:r>
              <a:rPr sz="1800" spc="-70" dirty="0"/>
              <a:t> </a:t>
            </a:r>
            <a:r>
              <a:rPr sz="1800" dirty="0"/>
              <a:t>Computer</a:t>
            </a:r>
            <a:r>
              <a:rPr sz="1800" spc="-35" dirty="0"/>
              <a:t> </a:t>
            </a:r>
            <a:r>
              <a:rPr sz="1800" dirty="0"/>
              <a:t>Science</a:t>
            </a:r>
            <a:r>
              <a:rPr sz="1800" spc="-35" dirty="0"/>
              <a:t> </a:t>
            </a:r>
            <a:r>
              <a:rPr sz="1800" dirty="0"/>
              <a:t>and</a:t>
            </a:r>
            <a:r>
              <a:rPr sz="1800" spc="-20" dirty="0"/>
              <a:t> </a:t>
            </a:r>
            <a:r>
              <a:rPr sz="1800" spc="-10" dirty="0"/>
              <a:t>Engineering</a:t>
            </a:r>
            <a:endParaRPr sz="1800" dirty="0"/>
          </a:p>
          <a:p>
            <a:pPr marL="12700" marR="5080" algn="ctr">
              <a:lnSpc>
                <a:spcPct val="100000"/>
              </a:lnSpc>
              <a:spcBef>
                <a:spcPts val="480"/>
              </a:spcBef>
            </a:pPr>
            <a:r>
              <a:rPr lang="en-US" altLang="en-US" sz="2000" dirty="0">
                <a:solidFill>
                  <a:srgbClr val="FF0000"/>
                </a:solidFill>
              </a:rPr>
              <a:t>FusionNet-GLD: A Dual-Backbone CNN ModelCombining Xception and Inception fo</a:t>
            </a:r>
            <a:r>
              <a:rPr lang="en-IN" altLang="en-US" sz="2000" dirty="0">
                <a:solidFill>
                  <a:srgbClr val="FF0000"/>
                </a:solidFill>
              </a:rPr>
              <a:t>r </a:t>
            </a:r>
            <a:r>
              <a:rPr lang="en-US" altLang="en-US" sz="2000" dirty="0">
                <a:solidFill>
                  <a:srgbClr val="FF0000"/>
                </a:solidFill>
              </a:rPr>
              <a:t>Grape Leaf</a:t>
            </a:r>
            <a:r>
              <a:rPr lang="en-IN" altLang="en-US" sz="2000" dirty="0">
                <a:solidFill>
                  <a:srgbClr val="FF0000"/>
                </a:solidFill>
              </a:rPr>
              <a:t>  </a:t>
            </a:r>
            <a:r>
              <a:rPr lang="en-US" altLang="en-US" sz="2000" dirty="0">
                <a:solidFill>
                  <a:srgbClr val="FF0000"/>
                </a:solidFill>
              </a:rPr>
              <a:t>Disease Recognition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9165" y="1978533"/>
            <a:ext cx="148463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dirty="0"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155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25" dirty="0">
                <a:latin typeface="Times New Roman" panose="02020603050405020304"/>
                <a:cs typeface="Times New Roman" panose="02020603050405020304"/>
              </a:rPr>
              <a:t>BY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6200" y="2286254"/>
            <a:ext cx="2743200" cy="1051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2000"/>
              </a:lnSpc>
              <a:spcBef>
                <a:spcPts val="95"/>
              </a:spcBef>
            </a:pPr>
            <a:r>
              <a:rPr lang="en-US" altLang="en-US" sz="1550" spc="-10" dirty="0">
                <a:latin typeface="Times New Roman" panose="02020603050405020304"/>
                <a:cs typeface="Times New Roman" panose="02020603050405020304"/>
              </a:rPr>
              <a:t>Syed Shafia Zainab</a:t>
            </a:r>
          </a:p>
          <a:p>
            <a:pPr marL="12700" marR="5080">
              <a:lnSpc>
                <a:spcPct val="142000"/>
              </a:lnSpc>
              <a:spcBef>
                <a:spcPts val="95"/>
              </a:spcBef>
            </a:pPr>
            <a:r>
              <a:rPr lang="en-US" altLang="en-US" sz="1550" spc="-10" dirty="0">
                <a:latin typeface="Times New Roman" panose="02020603050405020304"/>
                <a:cs typeface="Times New Roman" panose="02020603050405020304"/>
              </a:rPr>
              <a:t>Soudagar Min Haz</a:t>
            </a:r>
          </a:p>
          <a:p>
            <a:pPr marL="12700" marR="5080">
              <a:lnSpc>
                <a:spcPct val="142000"/>
              </a:lnSpc>
              <a:spcBef>
                <a:spcPts val="95"/>
              </a:spcBef>
            </a:pPr>
            <a:r>
              <a:rPr lang="en-IN" altLang="" sz="1550" dirty="0">
                <a:latin typeface="Times New Roman" panose="02020603050405020304"/>
                <a:cs typeface="Times New Roman" panose="02020603050405020304"/>
              </a:rPr>
              <a:t>Chatti Navya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48245" y="2302764"/>
            <a:ext cx="1241425" cy="1028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2000"/>
              </a:lnSpc>
              <a:spcBef>
                <a:spcPts val="100"/>
              </a:spcBef>
            </a:pPr>
            <a:r>
              <a:rPr sz="1550" spc="-10" dirty="0">
                <a:latin typeface="Times New Roman" panose="02020603050405020304"/>
                <a:cs typeface="Times New Roman" panose="02020603050405020304"/>
              </a:rPr>
              <a:t>(22471A05</a:t>
            </a:r>
            <a:r>
              <a:rPr lang="en-IN" altLang="" sz="1550" spc="-10" dirty="0">
                <a:latin typeface="Times New Roman" panose="02020603050405020304"/>
                <a:cs typeface="Times New Roman" panose="02020603050405020304"/>
              </a:rPr>
              <a:t>K0</a:t>
            </a:r>
            <a:r>
              <a:rPr sz="1550" spc="-10" dirty="0">
                <a:latin typeface="Times New Roman" panose="02020603050405020304"/>
                <a:cs typeface="Times New Roman" panose="02020603050405020304"/>
              </a:rPr>
              <a:t>) (22471A05</a:t>
            </a:r>
            <a:r>
              <a:rPr lang="en-IN" altLang="" sz="1550" spc="-10" dirty="0">
                <a:latin typeface="Times New Roman" panose="02020603050405020304"/>
                <a:cs typeface="Times New Roman" panose="02020603050405020304"/>
              </a:rPr>
              <a:t>J7</a:t>
            </a:r>
            <a:r>
              <a:rPr sz="1550" spc="-10" dirty="0">
                <a:latin typeface="Times New Roman" panose="02020603050405020304"/>
                <a:cs typeface="Times New Roman" panose="02020603050405020304"/>
              </a:rPr>
              <a:t>) (22471A05</a:t>
            </a:r>
            <a:r>
              <a:rPr lang="en-IN" altLang="" sz="1550" spc="-10" dirty="0">
                <a:latin typeface="Times New Roman" panose="02020603050405020304"/>
                <a:cs typeface="Times New Roman" panose="02020603050405020304"/>
              </a:rPr>
              <a:t>E9</a:t>
            </a:r>
            <a:r>
              <a:rPr sz="1550" spc="-10" dirty="0">
                <a:latin typeface="Times New Roman" panose="02020603050405020304"/>
                <a:cs typeface="Times New Roman" panose="02020603050405020304"/>
              </a:rPr>
              <a:t>)</a:t>
            </a:r>
            <a:endParaRPr sz="155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77359" y="3669233"/>
            <a:ext cx="4132579" cy="2216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1800" spc="-15" dirty="0">
                <a:solidFill>
                  <a:srgbClr val="0066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-70" dirty="0">
                <a:solidFill>
                  <a:srgbClr val="0066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 panose="02020603050405020304"/>
                <a:cs typeface="Times New Roman" panose="02020603050405020304"/>
              </a:rPr>
              <a:t>Guidance</a:t>
            </a:r>
            <a:r>
              <a:rPr sz="1800" spc="-45" dirty="0">
                <a:solidFill>
                  <a:srgbClr val="0066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5" dirty="0">
                <a:solidFill>
                  <a:srgbClr val="006600"/>
                </a:solidFill>
                <a:latin typeface="Times New Roman" panose="02020603050405020304"/>
                <a:cs typeface="Times New Roman" panose="02020603050405020304"/>
              </a:rPr>
              <a:t>of,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635" algn="ctr">
              <a:lnSpc>
                <a:spcPct val="100000"/>
              </a:lnSpc>
              <a:spcBef>
                <a:spcPts val="1815"/>
              </a:spcBef>
            </a:pPr>
            <a:r>
              <a:rPr lang="en-US" altLang="en-US" sz="1550" b="1" spc="-15" dirty="0">
                <a:latin typeface="Times New Roman" panose="02020603050405020304"/>
                <a:cs typeface="Times New Roman" panose="02020603050405020304"/>
              </a:rPr>
              <a:t>K.V.Narasimha Reddy</a:t>
            </a:r>
            <a:r>
              <a:rPr lang="en-US" sz="155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b="1" spc="-10" dirty="0">
                <a:latin typeface="Times New Roman" panose="02020603050405020304"/>
                <a:cs typeface="Times New Roman" panose="02020603050405020304"/>
              </a:rPr>
              <a:t>M.Tech</a:t>
            </a:r>
            <a:r>
              <a:rPr sz="1550" b="1" spc="-10" dirty="0">
                <a:latin typeface="Times New Roman" panose="02020603050405020304"/>
                <a:cs typeface="Times New Roman" panose="02020603050405020304"/>
              </a:rPr>
              <a:t>,</a:t>
            </a:r>
            <a:endParaRPr sz="1550" dirty="0">
              <a:latin typeface="Times New Roman" panose="02020603050405020304"/>
              <a:cs typeface="Times New Roman" panose="02020603050405020304"/>
            </a:endParaRPr>
          </a:p>
          <a:p>
            <a:pPr marL="3175" algn="ctr">
              <a:lnSpc>
                <a:spcPct val="100000"/>
              </a:lnSpc>
              <a:spcBef>
                <a:spcPts val="515"/>
              </a:spcBef>
            </a:pPr>
            <a:r>
              <a:rPr sz="155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Assistant</a:t>
            </a:r>
            <a:r>
              <a:rPr sz="1550" spc="-6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Professor,</a:t>
            </a:r>
            <a:endParaRPr sz="1550" dirty="0">
              <a:latin typeface="Times New Roman" panose="02020603050405020304"/>
              <a:cs typeface="Times New Roman" panose="02020603050405020304"/>
            </a:endParaRPr>
          </a:p>
          <a:p>
            <a:pPr marL="12700" marR="5080" indent="2540" algn="ctr">
              <a:lnSpc>
                <a:spcPts val="2880"/>
              </a:lnSpc>
              <a:spcBef>
                <a:spcPts val="245"/>
              </a:spcBef>
            </a:pPr>
            <a:r>
              <a:rPr sz="155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1550" spc="4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550" spc="15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1550" spc="9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Science</a:t>
            </a:r>
            <a:r>
              <a:rPr sz="1550" spc="6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550" spc="9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Engineering, </a:t>
            </a:r>
            <a:r>
              <a:rPr sz="155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Narasaraopeta</a:t>
            </a:r>
            <a:r>
              <a:rPr sz="1550" spc="1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Engineering</a:t>
            </a:r>
            <a:r>
              <a:rPr sz="1550" spc="1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College</a:t>
            </a:r>
            <a:r>
              <a:rPr sz="1550" spc="2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(Autonomous),</a:t>
            </a:r>
            <a:endParaRPr sz="1550" dirty="0">
              <a:latin typeface="Times New Roman" panose="02020603050405020304"/>
              <a:cs typeface="Times New Roman" panose="02020603050405020304"/>
            </a:endParaRPr>
          </a:p>
          <a:p>
            <a:pPr marL="635" algn="ctr">
              <a:lnSpc>
                <a:spcPct val="100000"/>
              </a:lnSpc>
              <a:spcBef>
                <a:spcPts val="1115"/>
              </a:spcBef>
            </a:pPr>
            <a:r>
              <a:rPr sz="155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Narasaraopet-</a:t>
            </a:r>
            <a:r>
              <a:rPr sz="1550" spc="9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522</a:t>
            </a:r>
            <a:r>
              <a:rPr sz="1550" spc="1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5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601.</a:t>
            </a:r>
            <a:endParaRPr sz="155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43255"/>
            <a:ext cx="3648455" cy="50596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17244" y="6448890"/>
            <a:ext cx="9115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10-11-2025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05958" y="6448890"/>
            <a:ext cx="225107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</a:t>
            </a:r>
            <a:r>
              <a:rPr lang="en-IN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890" y="515569"/>
            <a:ext cx="259842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</a:t>
            </a:r>
            <a:r>
              <a:rPr lang="en-IN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163566"/>
            <a:ext cx="3434715" cy="450469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527685" indent="-514985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Abstract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527685" indent="-514985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Introduction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527685" indent="-51498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Literature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Survey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527685" indent="-514985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Research</a:t>
            </a:r>
            <a:r>
              <a:rPr sz="18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Gaps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527685" indent="-51498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Problem</a:t>
            </a:r>
            <a:r>
              <a:rPr sz="18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Statement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527685" indent="-514985">
              <a:lnSpc>
                <a:spcPct val="100000"/>
              </a:lnSpc>
              <a:spcBef>
                <a:spcPts val="385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Objectives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527685" indent="-514985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Block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Diagram</a:t>
            </a:r>
            <a:r>
              <a:rPr sz="18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Flow</a:t>
            </a:r>
            <a:r>
              <a:rPr sz="18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Diagram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527685" indent="-514985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Methodology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527685" indent="-514985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Implementation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527685" indent="-514985">
              <a:lnSpc>
                <a:spcPct val="100000"/>
              </a:lnSpc>
              <a:spcBef>
                <a:spcPts val="410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Results 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Analysis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527685" indent="-514985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Conclusion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Future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Scope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527685" indent="-514985">
              <a:lnSpc>
                <a:spcPct val="100000"/>
              </a:lnSpc>
              <a:spcBef>
                <a:spcPts val="410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References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527685" indent="-514985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52768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Question 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Answers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527685" indent="-514985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527685" algn="l"/>
              </a:tabLst>
            </a:pP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Acknowledgements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800" y="214800"/>
            <a:ext cx="966597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7245">
              <a:lnSpc>
                <a:spcPct val="100000"/>
              </a:lnSpc>
              <a:spcBef>
                <a:spcPts val="95"/>
              </a:spcBef>
            </a:pPr>
            <a:r>
              <a:rPr sz="3000" spc="-10" dirty="0"/>
              <a:t>ABSTRACT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7244" y="6448890"/>
            <a:ext cx="74676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10-11-2025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1038224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</a:t>
            </a:r>
            <a:r>
              <a:rPr lang="en-IN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endParaRPr lang="en-IN" altLang="en-US" sz="1200" spc="-10" dirty="0">
              <a:solidFill>
                <a:srgbClr val="878787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4182" y="6448890"/>
            <a:ext cx="121285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66083" y="666033"/>
            <a:ext cx="10470515" cy="57688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Grapevine leaf diseases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(black rot, leaf blight, esca) reduce crop yield and fruit quality.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disease inspection is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labor-intensive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unreliable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large vineyards.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FusionNet-GLD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proposed as a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dual-backbone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for disease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Xception (fine-grained feature extraction) and InceptionV3 (multi-scale feature extraction).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fusion efficiently captures complex visual patterns of infected leaves.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FusionNet-GLD trained on augmented PlantVillage dataset achieved 99.63% accuracy,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99.45%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99.42%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99.43% F1-score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0.99 AUC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outperforming five baseline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is lightweight and suitable for deployment on handheld devices and drones for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vineyard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0014" y="74966"/>
            <a:ext cx="4485640" cy="56832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3000"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dirty="0"/>
              <a:t>10-11-</a:t>
            </a:r>
            <a:r>
              <a:rPr lang="en-IN" spc="-20" dirty="0"/>
              <a:t>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/>
              <a:t>Review</a:t>
            </a:r>
            <a:r>
              <a:rPr lang="en-IN" spc="-60"/>
              <a:t> </a:t>
            </a:r>
            <a:r>
              <a:rPr lang="en-IN" spc="-25"/>
              <a:t>No.</a:t>
            </a:r>
            <a:endParaRPr lang="en-IN"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</a:t>
            </a:r>
            <a:r>
              <a:rPr lang="en-IN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lang="en-IN" spc="-25" smtClean="0"/>
              <a:t>4</a:t>
            </a:fld>
            <a:endParaRPr lang="en-IN" spc="-25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1843F3-8C70-2086-7C8E-71E84F251312}"/>
              </a:ext>
            </a:extLst>
          </p:cNvPr>
          <p:cNvSpPr txBox="1"/>
          <p:nvPr/>
        </p:nvSpPr>
        <p:spPr>
          <a:xfrm>
            <a:off x="76200" y="522346"/>
            <a:ext cx="12039600" cy="626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Brief</a:t>
            </a:r>
            <a:r>
              <a:rPr lang="en-US" sz="2000" b="1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endParaRPr lang="en-US" altLang="en-US" sz="2000" b="1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lang="en-US" altLang="en-US"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Grapevi</a:t>
            </a:r>
            <a:r>
              <a:rPr lang="en-US" altLang="en-US" sz="2000" spc="-10" dirty="0">
                <a:latin typeface="Arial" panose="020B0604020202020204" pitchFamily="34" charset="0"/>
                <a:cs typeface="Arial" panose="020B0604020202020204" pitchFamily="34" charset="0"/>
              </a:rPr>
              <a:t>ne is a major commercial crop used for </a:t>
            </a:r>
            <a:r>
              <a:rPr lang="en-US" altLang="en-US"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wine</a:t>
            </a:r>
            <a:r>
              <a:rPr lang="en-US" altLang="en-US" sz="2000" spc="-1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table grapes.</a:t>
            </a:r>
            <a:endParaRPr lang="en-US" altLang="en-US" sz="2000" spc="-1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Leaf diseases like Black Rot, Esca, and Leaf Blight reduce yield and fruit quality.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Manual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disease identification in large vineyards is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slow, inconsistent, </a:t>
            </a:r>
            <a:r>
              <a:rPr lang="en-US" altLang="en-US" sz="2000" b="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labor-dependent.</a:t>
            </a: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r>
              <a:rPr lang="en-US" sz="2000" b="1" spc="-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Behind</a:t>
            </a:r>
            <a:r>
              <a:rPr lang="en-US" sz="20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000" b="1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Need for fast and accurate grape disease detection to avoid production loss.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Manual inspection is prone to human error and slow for large-scale vineyards.</a:t>
            </a: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Existing single-backbone models do not effectively balance computational efficiency and accuracy. Exploring hybrid feature extraction can improve recognition of complex disease patterns.</a:t>
            </a: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Importance</a:t>
            </a:r>
            <a:r>
              <a:rPr lang="en-US" sz="2000" b="1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b="1" spc="-10" dirty="0">
                <a:latin typeface="Arial" panose="020B0604020202020204" pitchFamily="34" charset="0"/>
                <a:cs typeface="Arial" panose="020B0604020202020204" pitchFamily="34" charset="0"/>
              </a:rPr>
              <a:t>Relevance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265" indent="-456565">
              <a:lnSpc>
                <a:spcPct val="100000"/>
              </a:lnSpc>
              <a:buFont typeface="Arial MT"/>
              <a:buChar char="•"/>
              <a:tabLst>
                <a:tab pos="46926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Prior work used CNNs, lightweight CNNs, and transformer models, but mixed-architecture models remain underexplored. The proposed FusionNet-GLD combines Xception + InceptionV3 to capture depth-wise and multi-scale features.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0014" y="67828"/>
            <a:ext cx="5514340" cy="4757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0" spc="-10" dirty="0"/>
              <a:t>LITERATURE</a:t>
            </a:r>
            <a:r>
              <a:rPr sz="3000" spc="-160" dirty="0"/>
              <a:t> </a:t>
            </a:r>
            <a:r>
              <a:rPr sz="3000" spc="-10" dirty="0"/>
              <a:t>SURVEY</a:t>
            </a:r>
            <a:endParaRPr sz="30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735843"/>
              </p:ext>
            </p:extLst>
          </p:nvPr>
        </p:nvGraphicFramePr>
        <p:xfrm>
          <a:off x="533400" y="524511"/>
          <a:ext cx="11277600" cy="61186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4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3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6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4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8139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en-IN" sz="10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56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r>
                        <a:rPr lang="en-US" sz="10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</a:t>
                      </a:r>
                    </a:p>
                    <a:p>
                      <a:pPr marL="5156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en-US" sz="10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Year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  <a:r>
                        <a:rPr sz="1000" b="1" spc="8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r>
                        <a:rPr sz="1000" b="1" spc="6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R="7429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R="12382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0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R="1022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0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Adapted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sz="1000" b="1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Findings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266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0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marR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GrapeLeafNet: A Dual-Track</a:t>
                      </a:r>
                    </a:p>
                    <a:p>
                      <a:pPr marL="9525" marR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Feature Fusion Network </a:t>
                      </a:r>
                    </a:p>
                    <a:p>
                      <a:pPr marL="9525" marR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With Inception-ResNet </a:t>
                      </a:r>
                    </a:p>
                    <a:p>
                      <a:pPr marL="9525" marR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Shuffle-Transformer </a:t>
                      </a:r>
                    </a:p>
                    <a:p>
                      <a:pPr marL="9525" marR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for Accurate Grape </a:t>
                      </a:r>
                    </a:p>
                    <a:p>
                      <a:pPr marL="9525" marR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Leaf Disease Identification.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 Karthik (Corresponding Author), R Menak, S </a:t>
                      </a:r>
                      <a:r>
                        <a:rPr lang="en-IN" sz="100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Ompirakas</a:t>
                      </a: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P Bala Murugan, M Meenakashi, and </a:t>
                      </a:r>
                      <a:r>
                        <a:rPr lang="en-IN" sz="100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Sindhia</a:t>
                      </a: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Lingaswamy.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2024.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IEEE 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IN" sz="1000" dirty="0">
                          <a:hlinkClick r:id="rId2"/>
                        </a:rPr>
                        <a:t>GrapeLeafNet: A Dual-Track Feature Fusion Network With Inception-ResNet and Shuffle-Transformer for Accurate Grape Leaf Disease Identification | IEEE Journals &amp; Magazine | IEEE Xplore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000" dirty="0"/>
                        <a:t>methodology applies data augmentation (rotation, shifting, flipping, brightness adjustment, Gaussian blur) and dataset splitting for robust learning. It integrates </a:t>
                      </a:r>
                      <a:r>
                        <a:rPr lang="en-IN" sz="1000" b="1" dirty="0"/>
                        <a:t>Inception-ResNet</a:t>
                      </a:r>
                      <a:r>
                        <a:rPr lang="en-IN" sz="1000" dirty="0"/>
                        <a:t>, </a:t>
                      </a:r>
                      <a:r>
                        <a:rPr lang="en-IN" sz="1000" b="1" dirty="0"/>
                        <a:t>CBAM</a:t>
                      </a:r>
                      <a:r>
                        <a:rPr lang="en-IN" sz="1000" dirty="0"/>
                        <a:t>, </a:t>
                      </a:r>
                      <a:r>
                        <a:rPr lang="en-IN" sz="1000" b="1" dirty="0"/>
                        <a:t>Coordinate Attention</a:t>
                      </a:r>
                      <a:r>
                        <a:rPr lang="en-IN" sz="1000" dirty="0"/>
                        <a:t>, and </a:t>
                      </a:r>
                      <a:r>
                        <a:rPr lang="en-IN" sz="1000" b="1" dirty="0"/>
                        <a:t>Shuffle-Transformer</a:t>
                      </a:r>
                      <a:r>
                        <a:rPr lang="en-IN" sz="1000" dirty="0"/>
                        <a:t> modules for effective spatial and contextual feature extraction.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l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GrapeLeafNet utilizes a dual-track feature fusion approach,</a:t>
                      </a:r>
                    </a:p>
                    <a:p>
                      <a:pPr marL="11430" algn="l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combining Inception-ResNet blocks for local feature extraction.</a:t>
                      </a:r>
                    </a:p>
                    <a:p>
                      <a:pPr marL="11430" algn="l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primarily focused on either local </a:t>
                      </a:r>
                    </a:p>
                    <a:p>
                      <a:pPr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or global feature extraction methods, which can lead to suboptimal performance in accurately detecting grape leaf diseases. This indicates a need for improved feature fusion techniques that can integrate both types of information effectively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734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GCS-YOLO: Lightweight YOLOv8 for Grape Leaf Detection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Hu &amp; Zhang, 2025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Elsevier.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marR="41910">
                        <a:lnSpc>
                          <a:spcPct val="100000"/>
                        </a:lnSpc>
                      </a:pPr>
                      <a:r>
                        <a:rPr lang="en-US" sz="1000" dirty="0">
                          <a:hlinkClick r:id="rId3"/>
                        </a:rPr>
                        <a:t>GCS-YOLO: A Lightweight Detection Algorithm for Grape Leaf Diseases Based on Improved YOLOv8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lang="en-IN" sz="1000" dirty="0"/>
                        <a:t>methodology employs </a:t>
                      </a:r>
                      <a:r>
                        <a:rPr lang="en-IN" sz="1000" b="1" dirty="0"/>
                        <a:t>annotation using </a:t>
                      </a:r>
                      <a:r>
                        <a:rPr lang="en-IN" sz="1000" b="1" dirty="0" err="1"/>
                        <a:t>LabelImg</a:t>
                      </a:r>
                      <a:r>
                        <a:rPr lang="en-IN" sz="1000" dirty="0"/>
                        <a:t> and integrates a </a:t>
                      </a:r>
                      <a:r>
                        <a:rPr lang="en-IN" sz="1000" b="1" dirty="0"/>
                        <a:t>GCS-YOLO framework</a:t>
                      </a:r>
                      <a:r>
                        <a:rPr lang="en-IN" sz="1000" dirty="0"/>
                        <a:t> combining </a:t>
                      </a:r>
                      <a:r>
                        <a:rPr lang="en-IN" sz="1000" b="1" dirty="0"/>
                        <a:t>YOLOv8</a:t>
                      </a:r>
                      <a:r>
                        <a:rPr lang="en-IN" sz="1000" dirty="0"/>
                        <a:t>, </a:t>
                      </a:r>
                      <a:r>
                        <a:rPr lang="en-IN" sz="1000" b="1" dirty="0"/>
                        <a:t>Ghost Module</a:t>
                      </a:r>
                      <a:r>
                        <a:rPr lang="en-IN" sz="1000" dirty="0"/>
                        <a:t>, </a:t>
                      </a:r>
                      <a:r>
                        <a:rPr lang="en-IN" sz="1000" b="1" dirty="0" err="1"/>
                        <a:t>RepConv</a:t>
                      </a:r>
                      <a:r>
                        <a:rPr lang="en-IN" sz="1000" dirty="0"/>
                        <a:t>, and </a:t>
                      </a:r>
                      <a:r>
                        <a:rPr lang="en-IN" sz="1000" b="1" dirty="0"/>
                        <a:t>CBAM</a:t>
                      </a:r>
                      <a:r>
                        <a:rPr lang="en-IN" sz="1000" dirty="0"/>
                        <a:t> for efficient feature extraction and detection. Additionally, the </a:t>
                      </a:r>
                      <a:r>
                        <a:rPr lang="en-IN" sz="1000" b="1" dirty="0"/>
                        <a:t>C2f-GR module</a:t>
                      </a:r>
                      <a:r>
                        <a:rPr lang="en-IN" sz="1000" dirty="0"/>
                        <a:t> enhances gradient flow and feature representation for improved grape leaf disease identification.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model achieved </a:t>
                      </a:r>
                      <a:r>
                        <a:rPr lang="en-US" sz="1000" b="1" dirty="0"/>
                        <a:t>96.2% mean Average Precision (</a:t>
                      </a:r>
                      <a:r>
                        <a:rPr lang="en-US" sz="1000" b="1" dirty="0" err="1"/>
                        <a:t>mAP</a:t>
                      </a:r>
                      <a:r>
                        <a:rPr lang="en-US" sz="1000" b="1" dirty="0"/>
                        <a:t>) at </a:t>
                      </a:r>
                      <a:r>
                        <a:rPr lang="en-US" sz="1000" b="1" dirty="0" err="1"/>
                        <a:t>IoU</a:t>
                      </a:r>
                      <a:r>
                        <a:rPr lang="en-US" sz="1000" b="1" dirty="0"/>
                        <a:t> threshold 0.5</a:t>
                      </a:r>
                      <a:r>
                        <a:rPr lang="en-US" sz="1000" dirty="0"/>
                        <a:t>, indicating very high detection accuracy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further field testing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658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sz="10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lang="en-US" sz="1000" i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DeepLeaf: Optimized Deep Learning for Grape Leaf Diseases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Fatma M.Talaat,2025, Neural </a:t>
                      </a:r>
                      <a:r>
                        <a:rPr lang="en-IN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</a:t>
                      </a: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&amp; Appl.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lang="en-US" sz="1000" dirty="0">
                          <a:hlinkClick r:id="rId4"/>
                        </a:rPr>
                        <a:t>DeepLeaf: an optimized deep learning approach for automated recognition of grapevine leaf diseases | Neural Computing and Applications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</a:pPr>
                      <a:r>
                        <a:rPr lang="en-US" sz="1000" dirty="0"/>
                        <a:t>methodology involves </a:t>
                      </a:r>
                      <a:r>
                        <a:rPr lang="en-US" sz="1000" b="1" dirty="0"/>
                        <a:t>resizing, normalization, segmentation, color space conversion</a:t>
                      </a:r>
                      <a:r>
                        <a:rPr lang="en-US" sz="1000" dirty="0"/>
                        <a:t>, and </a:t>
                      </a:r>
                      <a:r>
                        <a:rPr lang="en-US" sz="1000" b="1" dirty="0"/>
                        <a:t>brightness/contrast enhancement</a:t>
                      </a:r>
                      <a:r>
                        <a:rPr lang="en-US" sz="1000" dirty="0"/>
                        <a:t> for consistent image preprocessing. An </a:t>
                      </a:r>
                      <a:r>
                        <a:rPr lang="en-US" sz="1000" b="1" dirty="0"/>
                        <a:t>OCNN model</a:t>
                      </a:r>
                      <a:r>
                        <a:rPr lang="en-US" sz="1000" dirty="0"/>
                        <a:t> with </a:t>
                      </a:r>
                      <a:r>
                        <a:rPr lang="en-US" sz="1000" b="1" dirty="0"/>
                        <a:t>Logistic Regression-based </a:t>
                      </a:r>
                      <a:r>
                        <a:rPr lang="en-US" sz="1000" b="1" dirty="0" err="1"/>
                        <a:t>downsampling</a:t>
                      </a:r>
                      <a:r>
                        <a:rPr lang="en-US" sz="1000" dirty="0"/>
                        <a:t> is employed to enhance feature extraction and classification efficiency.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68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logistic regression with CNN for better accuracy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homogeneous dataset; mostly tested in lab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99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YOLOv8-ACCW: 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Lightweight Grape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lang="en-US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Leaf Disease Detection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fr-FR" sz="1000" i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Zuxing</a:t>
                      </a:r>
                      <a:r>
                        <a:rPr lang="fr-FR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Chen et al., 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fr-FR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2024, IEEE Access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r>
                        <a:rPr lang="en-IN" sz="1000" dirty="0">
                          <a:hlinkClick r:id="rId5"/>
                        </a:rPr>
                        <a:t>YOLOv8-ACCW: Lightweight Grape Leaf Disease Detection Method Based on Improved YOLOv8 | IEEE Journals &amp; Magazine | IEEE Xplore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IN" sz="1000" dirty="0"/>
                        <a:t>methodology adopts an enhanced </a:t>
                      </a:r>
                      <a:r>
                        <a:rPr lang="en-IN" sz="1000" b="1" dirty="0"/>
                        <a:t>YOLOv8-ACCW</a:t>
                      </a:r>
                      <a:r>
                        <a:rPr lang="en-IN" sz="1000" dirty="0"/>
                        <a:t> model integrating </a:t>
                      </a:r>
                      <a:r>
                        <a:rPr lang="en-IN" sz="1000" b="1" dirty="0"/>
                        <a:t>AKConv</a:t>
                      </a:r>
                      <a:r>
                        <a:rPr lang="en-IN" sz="1000" dirty="0"/>
                        <a:t>, </a:t>
                      </a:r>
                      <a:r>
                        <a:rPr lang="en-IN" sz="1000" b="1" dirty="0"/>
                        <a:t>CARAFE</a:t>
                      </a:r>
                      <a:r>
                        <a:rPr lang="en-IN" sz="1000" dirty="0"/>
                        <a:t>, </a:t>
                      </a:r>
                      <a:r>
                        <a:rPr lang="en-IN" sz="1000" b="1" dirty="0"/>
                        <a:t>Wise-</a:t>
                      </a:r>
                      <a:r>
                        <a:rPr lang="en-IN" sz="1000" b="1" dirty="0" err="1"/>
                        <a:t>IoU</a:t>
                      </a:r>
                      <a:r>
                        <a:rPr lang="en-IN" sz="1000" dirty="0"/>
                        <a:t>, and </a:t>
                      </a:r>
                      <a:r>
                        <a:rPr lang="en-IN" sz="1000" b="1" dirty="0"/>
                        <a:t>Coordinate Attention (CA)</a:t>
                      </a:r>
                      <a:r>
                        <a:rPr lang="en-IN" sz="1000" dirty="0"/>
                        <a:t> modules to improve feature extraction, up sampling accuracy, and localization precision. 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5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143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object detection improved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</a:t>
                      </a: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generalizability </a:t>
                      </a: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across datasets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403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0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Grapes Leaf 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Dataset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Precision Agriculture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Madhuri Dharrao et al.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lang="en-IN" sz="1000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2025, Elsevier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lang="en-US" sz="1000" dirty="0">
                          <a:hlinkClick r:id="rId6"/>
                        </a:rPr>
                        <a:t>Grapes leaf disease dataset for precision agriculture - ScienceDirect</a:t>
                      </a: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The methodology includes </a:t>
                      </a:r>
                      <a:r>
                        <a:rPr lang="en-US" sz="1000" b="1" dirty="0"/>
                        <a:t>uniform resizing of images to 256×256</a:t>
                      </a:r>
                      <a:r>
                        <a:rPr lang="en-US" sz="1000" dirty="0"/>
                        <a:t>, </a:t>
                      </a:r>
                      <a:r>
                        <a:rPr lang="en-US" sz="1000" b="1" dirty="0"/>
                        <a:t>JPEG format conversion</a:t>
                      </a:r>
                      <a:r>
                        <a:rPr lang="en-US" sz="1000" dirty="0"/>
                        <a:t>, and </a:t>
                      </a:r>
                      <a:r>
                        <a:rPr lang="en-US" sz="1000" b="1" dirty="0"/>
                        <a:t>label structuring</a:t>
                      </a:r>
                      <a:r>
                        <a:rPr lang="en-US" sz="1000" dirty="0"/>
                        <a:t> for standardized input. A </a:t>
                      </a:r>
                      <a:r>
                        <a:rPr lang="en-US" sz="1000" b="1" dirty="0"/>
                        <a:t>ResNet-18</a:t>
                      </a:r>
                      <a:r>
                        <a:rPr lang="en-US" sz="1000" dirty="0"/>
                        <a:t> model is then utilized for efficient feature extraction and classification of grape leaf diseases.</a:t>
                      </a:r>
                      <a:endParaRPr 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with 2726</a:t>
                      </a: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images; accuracy</a:t>
                      </a: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96%	</a:t>
                      </a: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support for Esca,</a:t>
                      </a:r>
                    </a:p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Black Rot etc.	</a:t>
                      </a:r>
                    </a:p>
                  </a:txBody>
                  <a:tcPr marL="0" marR="0" marT="1174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169728"/>
            <a:ext cx="966597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09520">
              <a:lnSpc>
                <a:spcPct val="100000"/>
              </a:lnSpc>
              <a:spcBef>
                <a:spcPts val="95"/>
              </a:spcBef>
            </a:pPr>
            <a:r>
              <a:rPr sz="3000" spc="-10" dirty="0"/>
              <a:t>RESEARCH</a:t>
            </a:r>
            <a:r>
              <a:rPr sz="3000" spc="-265" dirty="0"/>
              <a:t> </a:t>
            </a:r>
            <a:r>
              <a:rPr sz="3000"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</a:t>
            </a:r>
            <a:r>
              <a:rPr lang="en-US" spc="-20" dirty="0"/>
              <a:t>25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B8ED0C8-39B1-7787-7646-0800CEF1A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953" y="560949"/>
            <a:ext cx="11598047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integration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multi-backbone CNNs and attention modules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precise disease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Scarcity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CNN–Transformer architectures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tailored for agricultural imagery.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lightweight, high-accuracy models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suitable for mobile or edge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large-scale, annotated, and balanced datasets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covering multiple grape varieties.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focus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disease stage differentiation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early-stage detection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Inadequate handling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variations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(lighting, background, leaf orientation).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Minimal research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cross-domain generalization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 learning adaptability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Absence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AI techniques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interpret model predictions for farmers.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exploration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detection frameworks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field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 comparative studies evaluating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computational efficiency vs. accuracy trade-offs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9400" y="214801"/>
            <a:ext cx="966597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80210">
              <a:lnSpc>
                <a:spcPct val="100000"/>
              </a:lnSpc>
              <a:spcBef>
                <a:spcPts val="95"/>
              </a:spcBef>
            </a:pPr>
            <a:r>
              <a:rPr sz="3000" spc="-20" dirty="0"/>
              <a:t>PROBLEM</a:t>
            </a:r>
            <a:r>
              <a:rPr sz="3000" spc="-215" dirty="0"/>
              <a:t> </a:t>
            </a:r>
            <a:r>
              <a:rPr sz="3000" spc="-3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07390" y="914400"/>
            <a:ext cx="10777220" cy="5874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Main Issue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Limited robustness and generalization in grape leaf disease detection due to inadequate feature fusion, insufficient attention mechanisms, and limited dataset diversity.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Existing Limitations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Existing models struggle with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poor generalization across varying lighting and backgrounds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limited use of hybrid CNN–Transformer architectures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lack of lightweight, explainable, and real-time deployable frameworks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Core Problem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core challenge lies in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combining deep spatial and contextual features efficiently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while maintaining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high accuracy, interpretability, and computational efficiency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real-world vineyard conditions.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develop 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robust and lightweight dual-backbone model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that fuses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CNN and attention mechanisms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enhances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disease recognition accuracy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ensures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efficient, explainable, and real-time deployment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56870" indent="-34417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356870" algn="l"/>
              </a:tabLst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0" y="229574"/>
            <a:ext cx="966597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07055">
              <a:lnSpc>
                <a:spcPct val="100000"/>
              </a:lnSpc>
              <a:spcBef>
                <a:spcPts val="95"/>
              </a:spcBef>
            </a:pPr>
            <a:r>
              <a:rPr sz="3000" spc="-10" dirty="0"/>
              <a:t>OBJECTIVES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85800" y="533400"/>
            <a:ext cx="11211307" cy="647677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Specific Objectives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apply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data preprocessing and augmentation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techniques such as rotation, shifting, flipping, brightness adjustment, and Gaussian blur to enhance dataset diversity.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design a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dual-backbone deep learning model (FusionNet-GLD)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combining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Xception and InceptionV3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improved feature extraction and classification.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integrate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attention mechanisms (CBAM and Coordinate Attention)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highlighting disease-relevant regions in grape leaf images.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evaluate the impact of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hybrid CNN–Transformer-based architectures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improving recognition accuracy and generalization.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compare the proposed model’s performance with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baseline models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such as MobileNetV2, EfficientNetB0, and Xception.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ensure the model’s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lightweight deployment capability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real-time detection on edge and mobile devices.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2682" y="552399"/>
            <a:ext cx="9665970" cy="47577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000" spc="45" dirty="0"/>
              <a:t> </a:t>
            </a:r>
            <a:r>
              <a:rPr sz="3000" dirty="0"/>
              <a:t>FLOW</a:t>
            </a:r>
            <a:r>
              <a:rPr sz="3000" spc="-125" dirty="0"/>
              <a:t> </a:t>
            </a:r>
            <a:r>
              <a:rPr sz="3000" spc="-10" dirty="0"/>
              <a:t>DIAGRAM</a:t>
            </a:r>
            <a:endParaRPr sz="300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ABD163-0C0A-CCFB-1C23-67A82BF0E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319" y="1471612"/>
            <a:ext cx="9437320" cy="3914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6413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97" y="1412165"/>
            <a:ext cx="5081421" cy="419986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r>
              <a:rPr lang="en-US" sz="1600" b="1" dirty="0"/>
              <a:t>1. Data Preprocessing</a:t>
            </a:r>
          </a:p>
          <a:p>
            <a:r>
              <a:rPr lang="en-US" sz="1600" dirty="0"/>
              <a:t>The collected grape leaf images are </a:t>
            </a:r>
            <a:r>
              <a:rPr lang="en-US" sz="1600" b="1" dirty="0"/>
              <a:t>resized to a uniform 256×256 resolution</a:t>
            </a:r>
            <a:r>
              <a:rPr lang="en-US" sz="1600" dirty="0"/>
              <a:t> and converted to JPEG format. </a:t>
            </a:r>
            <a:r>
              <a:rPr lang="en-US" sz="1600" b="1" dirty="0"/>
              <a:t>Augmentation techniques</a:t>
            </a:r>
            <a:r>
              <a:rPr lang="en-US" sz="1600" dirty="0"/>
              <a:t> such as rotation, shifting, flipping, brightness and contrast adjustment, and Gaussian blur are applied to increase dataset diversity. The data is then </a:t>
            </a:r>
            <a:r>
              <a:rPr lang="en-US" sz="1600" b="1" dirty="0"/>
              <a:t>split into training, validation, and testing sets</a:t>
            </a:r>
            <a:r>
              <a:rPr lang="en-US" sz="1600" dirty="0"/>
              <a:t> for balanced learning.</a:t>
            </a:r>
          </a:p>
          <a:p>
            <a:endParaRPr lang="en-US" sz="1600" dirty="0"/>
          </a:p>
          <a:p>
            <a:r>
              <a:rPr lang="en-US" sz="1600" b="1" dirty="0"/>
              <a:t>2. Feature Extraction</a:t>
            </a:r>
          </a:p>
          <a:p>
            <a:r>
              <a:rPr lang="en-US" sz="1600" dirty="0"/>
              <a:t>The model employs a </a:t>
            </a:r>
            <a:r>
              <a:rPr lang="en-US" sz="1600" b="1" dirty="0"/>
              <a:t>dual-backbone structure</a:t>
            </a:r>
            <a:r>
              <a:rPr lang="en-US" sz="1600" dirty="0"/>
              <a:t> integrating </a:t>
            </a:r>
            <a:r>
              <a:rPr lang="en-US" sz="1600" b="1" dirty="0"/>
              <a:t>Xception</a:t>
            </a:r>
            <a:r>
              <a:rPr lang="en-US" sz="1600" dirty="0"/>
              <a:t> and </a:t>
            </a:r>
            <a:r>
              <a:rPr lang="en-US" sz="1600" b="1" dirty="0"/>
              <a:t>InceptionV3</a:t>
            </a:r>
            <a:r>
              <a:rPr lang="en-US" sz="1600" dirty="0"/>
              <a:t> architectures. This combination enhances both </a:t>
            </a:r>
            <a:r>
              <a:rPr lang="en-US" sz="1600" b="1" dirty="0"/>
              <a:t>depth-wise and multi-scale feature extraction</a:t>
            </a:r>
            <a:r>
              <a:rPr lang="en-US" sz="1600" dirty="0"/>
              <a:t>, allowing the model to learn complex texture and shape patterns from diseased leaves efficiently.</a:t>
            </a:r>
          </a:p>
          <a:p>
            <a:pPr marL="220980">
              <a:lnSpc>
                <a:spcPct val="100000"/>
              </a:lnSpc>
              <a:tabLst>
                <a:tab pos="424815" algn="l"/>
              </a:tabLst>
            </a:pPr>
            <a:endParaRPr lang="en-US" sz="1600" b="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07785" y="1492123"/>
            <a:ext cx="5937250" cy="17370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1600" b="1" dirty="0"/>
              <a:t>3. Attention Mechanisms</a:t>
            </a:r>
          </a:p>
          <a:p>
            <a:endParaRPr lang="en-US" sz="1600" b="1" dirty="0"/>
          </a:p>
          <a:p>
            <a:r>
              <a:rPr lang="en-US" sz="1600" dirty="0"/>
              <a:t>To improve focus on critical leaf regions, </a:t>
            </a:r>
            <a:r>
              <a:rPr lang="en-US" sz="1600" b="1" dirty="0"/>
              <a:t>CBAM (Convolutional Block Attention Module)</a:t>
            </a:r>
            <a:r>
              <a:rPr lang="en-US" sz="1600" dirty="0"/>
              <a:t> and </a:t>
            </a:r>
            <a:r>
              <a:rPr lang="en-US" sz="1600" b="1" dirty="0"/>
              <a:t>Coordinate Attention</a:t>
            </a:r>
            <a:r>
              <a:rPr lang="en-US" sz="1600" dirty="0"/>
              <a:t> modules are incorporated. These attention layers help the network emphasize disease-affected areas while suppressing irrelevant background information.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49785" y="3389719"/>
            <a:ext cx="6055609" cy="17370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4. Model Training and Evaluation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hybrid model, named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FusionNet-GLD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is trained using optimized parameters and evaluated with metrics such as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Accuracy, Precision, Recall, F1-Score, and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Comparative analysis with baseline models (MobileNetV2, EfficientNetB0, Inception, and Xception) demonstrates superior performance and lightweight deployment efficiency.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1523" y="1292352"/>
            <a:ext cx="12192000" cy="4048125"/>
            <a:chOff x="1523" y="1292352"/>
            <a:chExt cx="12192000" cy="4048125"/>
          </a:xfrm>
        </p:grpSpPr>
        <p:sp>
          <p:nvSpPr>
            <p:cNvPr id="10" name="object 10"/>
            <p:cNvSpPr/>
            <p:nvPr/>
          </p:nvSpPr>
          <p:spPr>
            <a:xfrm>
              <a:off x="1523" y="1296924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388" y="5330952"/>
              <a:ext cx="12136120" cy="9525"/>
            </a:xfrm>
            <a:custGeom>
              <a:avLst/>
              <a:gdLst/>
              <a:ahLst/>
              <a:cxnLst/>
              <a:rect l="l" t="t" r="r" b="b"/>
              <a:pathLst>
                <a:path w="12136120" h="9525">
                  <a:moveTo>
                    <a:pt x="12135612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12135612" y="9144"/>
                  </a:lnTo>
                  <a:lnTo>
                    <a:pt x="121356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23" y="3396996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37859" y="1296924"/>
              <a:ext cx="0" cy="4038600"/>
            </a:xfrm>
            <a:custGeom>
              <a:avLst/>
              <a:gdLst/>
              <a:ahLst/>
              <a:cxnLst/>
              <a:rect l="l" t="t" r="r" b="b"/>
              <a:pathLst>
                <a:path h="4038600">
                  <a:moveTo>
                    <a:pt x="0" y="0"/>
                  </a:moveTo>
                  <a:lnTo>
                    <a:pt x="0" y="4038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0548" y="410413"/>
            <a:ext cx="5277485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55" dirty="0"/>
              <a:t>IMPLEMENTATION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112092" y="1144524"/>
            <a:ext cx="5717202" cy="4876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Implementation:</a:t>
            </a:r>
          </a:p>
          <a:p>
            <a:pPr marL="12700">
              <a:lnSpc>
                <a:spcPct val="100000"/>
              </a:lnSpc>
            </a:pPr>
            <a:r>
              <a:rPr lang="en-US" sz="1800" b="0" dirty="0"/>
              <a:t>The FusionNet-GLD model was implemented using Python with TensorFlow and Keras frameworks in Google Colab. The workflow includes dataset preprocessing, model construction (Xception + InceptionV3 + CBAM + Coordinate Attention), and evaluation using accuracy and </a:t>
            </a:r>
            <a:r>
              <a:rPr lang="en-US" sz="1800" b="0" dirty="0" err="1"/>
              <a:t>mAP</a:t>
            </a:r>
            <a:r>
              <a:rPr lang="en-US" sz="1800" b="0" dirty="0"/>
              <a:t> metrics. The model weights were trained on augmented images and validated through cross-validation for performance stability.</a:t>
            </a:r>
          </a:p>
          <a:p>
            <a:pPr marL="12700">
              <a:lnSpc>
                <a:spcPct val="100000"/>
              </a:lnSpc>
            </a:pPr>
            <a:endParaRPr lang="en-US" sz="1800" b="0" spc="-1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endParaRPr sz="1800" b="0" spc="-1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dirty="0"/>
              <a:t>Software</a:t>
            </a:r>
            <a:r>
              <a:rPr spc="-50" dirty="0"/>
              <a:t> </a:t>
            </a:r>
            <a:r>
              <a:rPr spc="-10" dirty="0"/>
              <a:t>Specs:</a:t>
            </a:r>
            <a:endParaRPr lang="en-IN" spc="-10" dirty="0"/>
          </a:p>
          <a:p>
            <a:pPr marL="12700">
              <a:lnSpc>
                <a:spcPct val="100000"/>
              </a:lnSpc>
            </a:pPr>
            <a:endParaRPr lang="en-IN" spc="-10" dirty="0"/>
          </a:p>
          <a:p>
            <a:pPr marL="12700">
              <a:lnSpc>
                <a:spcPct val="100000"/>
              </a:lnSpc>
            </a:pPr>
            <a:endParaRPr lang="en-IN" spc="-10" dirty="0"/>
          </a:p>
          <a:p>
            <a:pPr marL="12700">
              <a:lnSpc>
                <a:spcPct val="100000"/>
              </a:lnSpc>
            </a:pPr>
            <a:endParaRPr lang="en-IN" spc="-10" dirty="0"/>
          </a:p>
          <a:p>
            <a:pPr marL="12700">
              <a:lnSpc>
                <a:spcPct val="100000"/>
              </a:lnSpc>
            </a:pPr>
            <a:endParaRPr lang="en-IN" spc="-10" dirty="0"/>
          </a:p>
          <a:p>
            <a:pPr marL="12700">
              <a:lnSpc>
                <a:spcPct val="100000"/>
              </a:lnSpc>
            </a:pP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5829294" y="1173099"/>
            <a:ext cx="5523846" cy="274818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00" b="1" dirty="0">
                <a:latin typeface="Times New Roman" panose="02020603050405020304"/>
                <a:cs typeface="Times New Roman" panose="02020603050405020304"/>
              </a:rPr>
              <a:t>Hardware</a:t>
            </a:r>
            <a:r>
              <a:rPr sz="22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latin typeface="Times New Roman" panose="02020603050405020304"/>
                <a:cs typeface="Times New Roman" panose="02020603050405020304"/>
              </a:rPr>
              <a:t>Specs:</a:t>
            </a:r>
            <a:endParaRPr sz="2200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22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endParaRPr lang="en-IN" sz="2200" b="1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endParaRPr lang="en-IN" sz="2200" b="1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endParaRPr lang="en-IN" sz="2200" b="1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Times New Roman" panose="02020603050405020304"/>
                <a:cs typeface="Times New Roman" panose="02020603050405020304"/>
              </a:rPr>
              <a:t>Challenges</a:t>
            </a:r>
            <a:r>
              <a:rPr sz="2200" b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22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b="1" spc="-10" dirty="0">
                <a:latin typeface="Times New Roman" panose="02020603050405020304"/>
                <a:cs typeface="Times New Roman" panose="02020603050405020304"/>
              </a:rPr>
              <a:t>Solutions:</a:t>
            </a:r>
            <a:endParaRPr lang="en-IN" sz="2200" b="1" spc="-1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endParaRPr lang="en-IN" sz="2200" b="1" spc="-1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endParaRPr sz="2200" dirty="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23" y="1139952"/>
            <a:ext cx="12192635" cy="4805680"/>
            <a:chOff x="1523" y="1139952"/>
            <a:chExt cx="12192635" cy="4805680"/>
          </a:xfrm>
        </p:grpSpPr>
        <p:sp>
          <p:nvSpPr>
            <p:cNvPr id="6" name="object 6"/>
            <p:cNvSpPr/>
            <p:nvPr/>
          </p:nvSpPr>
          <p:spPr>
            <a:xfrm>
              <a:off x="1523" y="1144524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3" y="5788152"/>
              <a:ext cx="12190730" cy="9525"/>
            </a:xfrm>
            <a:custGeom>
              <a:avLst/>
              <a:gdLst/>
              <a:ahLst/>
              <a:cxnLst/>
              <a:rect l="l" t="t" r="r" b="b"/>
              <a:pathLst>
                <a:path w="12190730" h="9525">
                  <a:moveTo>
                    <a:pt x="12190476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12190476" y="9144"/>
                  </a:lnTo>
                  <a:lnTo>
                    <a:pt x="121904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29300" y="1144524"/>
              <a:ext cx="0" cy="4800600"/>
            </a:xfrm>
            <a:custGeom>
              <a:avLst/>
              <a:gdLst/>
              <a:ahLst/>
              <a:cxnLst/>
              <a:rect l="l" t="t" r="r" b="b"/>
              <a:pathLst>
                <a:path h="4800600">
                  <a:moveTo>
                    <a:pt x="0" y="0"/>
                  </a:moveTo>
                  <a:lnTo>
                    <a:pt x="0" y="480060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23" y="2744724"/>
              <a:ext cx="12192635" cy="990600"/>
            </a:xfrm>
            <a:custGeom>
              <a:avLst/>
              <a:gdLst/>
              <a:ahLst/>
              <a:cxnLst/>
              <a:rect l="l" t="t" r="r" b="b"/>
              <a:pathLst>
                <a:path w="12192635" h="990600">
                  <a:moveTo>
                    <a:pt x="0" y="990600"/>
                  </a:moveTo>
                  <a:lnTo>
                    <a:pt x="5827395" y="990600"/>
                  </a:lnTo>
                </a:path>
                <a:path w="12192635" h="990600">
                  <a:moveTo>
                    <a:pt x="5827776" y="0"/>
                  </a:moveTo>
                  <a:lnTo>
                    <a:pt x="12192381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05957" y="6448890"/>
            <a:ext cx="89484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44182" y="6448890"/>
            <a:ext cx="121285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FEE8F8D-B412-62A3-3644-6BC36D9FE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20349"/>
            <a:ext cx="582929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 System: Windows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 Python 3.10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 TensorFlow, Keras, OpenCV, NumPy,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Matplotlib, Scikit-learn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 Google Colab, Jupyter Notebook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5DB93F45-4A2E-661C-96C9-233A52450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133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Processor: Intel Core i7 / equivalent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GPU: NVIDIA Tesla T4 (Google Colab)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RAM: 16 GB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Storage: 100 GB HDD / Google Drive dataset storage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49CE69B3-8FDA-3DF6-9E76-F3A069950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825" y="3186432"/>
            <a:ext cx="594265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Overfitting due to limited dataset size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Applied extensive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augmentation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dropout regularization.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in focusing on fine-grained leaf disease regions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CBAM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Coordinate Attention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modules to enhance spatial awareness.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computational complexity in hybrid CNNs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Optimized network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dual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-backbone design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fine-tuned hyperparameters.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2682" y="552399"/>
            <a:ext cx="966597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4680">
              <a:lnSpc>
                <a:spcPct val="100000"/>
              </a:lnSpc>
              <a:spcBef>
                <a:spcPts val="95"/>
              </a:spcBef>
            </a:pPr>
            <a:r>
              <a:rPr sz="3000" spc="-35" dirty="0"/>
              <a:t>R</a:t>
            </a:r>
            <a:r>
              <a:rPr sz="3000" spc="45" dirty="0"/>
              <a:t>E</a:t>
            </a:r>
            <a:r>
              <a:rPr sz="3000" spc="-45" dirty="0"/>
              <a:t>S</a:t>
            </a:r>
            <a:r>
              <a:rPr sz="3000" spc="20" dirty="0"/>
              <a:t>U</a:t>
            </a:r>
            <a:r>
              <a:rPr sz="3000" spc="-484" dirty="0"/>
              <a:t>L</a:t>
            </a:r>
            <a:r>
              <a:rPr sz="3000" spc="-30" dirty="0"/>
              <a:t>T</a:t>
            </a:r>
            <a:r>
              <a:rPr sz="3000" spc="-20" dirty="0"/>
              <a:t>S</a:t>
            </a:r>
            <a:r>
              <a:rPr sz="3000" spc="-145" dirty="0"/>
              <a:t> </a:t>
            </a:r>
            <a:r>
              <a:rPr sz="3000" spc="-45" dirty="0"/>
              <a:t>&amp;</a:t>
            </a:r>
            <a:r>
              <a:rPr sz="3000" spc="-300" dirty="0"/>
              <a:t> </a:t>
            </a:r>
            <a:r>
              <a:rPr sz="3000" spc="-10" dirty="0"/>
              <a:t>ANALYSIS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D4BF5B-E4DB-C13E-C1D0-1C0EA54CE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188715"/>
            <a:ext cx="4667758" cy="4480569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CFB3C6AC-3386-9681-C7E8-06BBD9713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377595"/>
            <a:ext cx="622798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deep learning models achieved accuracy above 95%,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significantly outperforming the classical Random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Forest (87.65%).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FusionNet-GLD performs the best with 99.63% accuracy,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validating its dual-backbone fusion strategy.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model’s accuracy surpasses its parent architectures,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Xception (98.24%) and InceptionV3 (97.34%), proving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synergy of the fusion.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Xception and InceptionV3 showed high and stable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performance, setting a strong benchmark.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models like MobileNetV2 (95.82%)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EfficientNetB0 (96.88%) remained competitive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were ultimately outperformed.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9C620-5748-B6A9-24EA-21B66AE0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86673E7-ED2A-9A96-23B7-F5B9ED1E7F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52800" y="496585"/>
            <a:ext cx="966597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4680">
              <a:lnSpc>
                <a:spcPct val="100000"/>
              </a:lnSpc>
              <a:spcBef>
                <a:spcPts val="95"/>
              </a:spcBef>
            </a:pPr>
            <a:r>
              <a:rPr sz="3000" spc="-35" dirty="0"/>
              <a:t>R</a:t>
            </a:r>
            <a:r>
              <a:rPr sz="3000" spc="45" dirty="0"/>
              <a:t>E</a:t>
            </a:r>
            <a:r>
              <a:rPr sz="3000" spc="-45" dirty="0"/>
              <a:t>S</a:t>
            </a:r>
            <a:r>
              <a:rPr sz="3000" spc="20" dirty="0"/>
              <a:t>U</a:t>
            </a:r>
            <a:r>
              <a:rPr sz="3000" spc="-484" dirty="0"/>
              <a:t>L</a:t>
            </a:r>
            <a:r>
              <a:rPr sz="3000" spc="-30" dirty="0"/>
              <a:t>T</a:t>
            </a:r>
            <a:r>
              <a:rPr sz="3000" spc="-20" dirty="0"/>
              <a:t>S</a:t>
            </a:r>
            <a:r>
              <a:rPr sz="3000" spc="-145" dirty="0"/>
              <a:t> </a:t>
            </a:r>
            <a:r>
              <a:rPr sz="3000" spc="-45" dirty="0"/>
              <a:t>&amp;</a:t>
            </a:r>
            <a:r>
              <a:rPr sz="3000" spc="-300" dirty="0"/>
              <a:t> </a:t>
            </a:r>
            <a:r>
              <a:rPr sz="3000" spc="-10" dirty="0"/>
              <a:t>ANALYSIS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CED9157-DF87-DA0B-D903-8B51B3E0C3F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77AAE8A-27FF-6C18-A05A-C21F50BFAA6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BB659D7-ABAC-F3A6-DD9F-669AC6D57CC5}"/>
              </a:ext>
            </a:extLst>
          </p:cNvPr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2562527-C341-F4CA-6150-3FD6DCB4214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6A4AE3-F4C2-CEA9-B1C2-F6DEBCD75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95399"/>
            <a:ext cx="11582400" cy="501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38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FE441-0B82-0905-2B0E-F3237BC18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8D23332-95E2-04C7-1855-C3A8BD49A0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92682" y="552399"/>
            <a:ext cx="966597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4680">
              <a:lnSpc>
                <a:spcPct val="100000"/>
              </a:lnSpc>
              <a:spcBef>
                <a:spcPts val="95"/>
              </a:spcBef>
            </a:pPr>
            <a:r>
              <a:rPr sz="3000" spc="-35" dirty="0"/>
              <a:t>R</a:t>
            </a:r>
            <a:r>
              <a:rPr sz="3000" spc="45" dirty="0"/>
              <a:t>E</a:t>
            </a:r>
            <a:r>
              <a:rPr sz="3000" spc="-45" dirty="0"/>
              <a:t>S</a:t>
            </a:r>
            <a:r>
              <a:rPr sz="3000" spc="20" dirty="0"/>
              <a:t>U</a:t>
            </a:r>
            <a:r>
              <a:rPr sz="3000" spc="-484" dirty="0"/>
              <a:t>L</a:t>
            </a:r>
            <a:r>
              <a:rPr sz="3000" spc="-30" dirty="0"/>
              <a:t>T</a:t>
            </a:r>
            <a:r>
              <a:rPr sz="3000" spc="-20" dirty="0"/>
              <a:t>S</a:t>
            </a:r>
            <a:r>
              <a:rPr sz="3000" spc="-145" dirty="0"/>
              <a:t> </a:t>
            </a:r>
            <a:r>
              <a:rPr sz="3000" spc="-45" dirty="0"/>
              <a:t>&amp;</a:t>
            </a:r>
            <a:r>
              <a:rPr sz="3000" spc="-300" dirty="0"/>
              <a:t> </a:t>
            </a:r>
            <a:r>
              <a:rPr sz="3000" spc="-10" dirty="0"/>
              <a:t>ANALYSIS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99B1519-B40A-FA29-BE27-87AC96E2450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95C966A-FD5A-CB73-DB19-BC2A8B959BC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6EEA175-73F4-42FC-DDCF-F0A46DA3650F}"/>
              </a:ext>
            </a:extLst>
          </p:cNvPr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33B53DB-7516-B98D-1CF1-604B2C99959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0E447-3DFD-80D2-42EF-286CE58DABAB}"/>
              </a:ext>
            </a:extLst>
          </p:cNvPr>
          <p:cNvSpPr txBox="1"/>
          <p:nvPr/>
        </p:nvSpPr>
        <p:spPr>
          <a:xfrm>
            <a:off x="381000" y="1188715"/>
            <a:ext cx="11811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Airal"/>
              </a:rPr>
              <a:t>This table presents the comprehensive performance evaluation of our proposed </a:t>
            </a:r>
            <a:r>
              <a:rPr lang="en-US" b="1" dirty="0">
                <a:latin typeface="Airal"/>
              </a:rPr>
              <a:t>FusionNet-GLD</a:t>
            </a:r>
            <a:r>
              <a:rPr lang="en-US" dirty="0">
                <a:latin typeface="Airal"/>
              </a:rPr>
              <a:t> model against five other baseline models. The models were tested on the unseen test dataset across all key classification metrics.</a:t>
            </a:r>
          </a:p>
          <a:p>
            <a:pPr>
              <a:buNone/>
            </a:pPr>
            <a:endParaRPr lang="en-US" dirty="0">
              <a:latin typeface="Air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iral"/>
              </a:rPr>
              <a:t>State-of-the-Art Performance:</a:t>
            </a:r>
            <a:r>
              <a:rPr lang="en-US" dirty="0">
                <a:latin typeface="Airal"/>
              </a:rPr>
              <a:t> Our proposed model, </a:t>
            </a:r>
            <a:r>
              <a:rPr lang="en-US" b="1" dirty="0">
                <a:latin typeface="Airal"/>
              </a:rPr>
              <a:t>FusionNet-GLD</a:t>
            </a:r>
            <a:r>
              <a:rPr lang="en-US" dirty="0">
                <a:latin typeface="Airal"/>
              </a:rPr>
              <a:t>, achieves state-of-the-art results, leading in all evaluated metrics with </a:t>
            </a:r>
            <a:r>
              <a:rPr lang="en-US" b="1" dirty="0">
                <a:latin typeface="Airal"/>
              </a:rPr>
              <a:t>99.63% Accuracy</a:t>
            </a:r>
            <a:r>
              <a:rPr lang="en-US" dirty="0">
                <a:latin typeface="Airal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ir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iral"/>
              </a:rPr>
              <a:t>Validation of Fusion Hypothesis:</a:t>
            </a:r>
            <a:r>
              <a:rPr lang="en-US" dirty="0">
                <a:latin typeface="Airal"/>
              </a:rPr>
              <a:t> The fusion model's performance surpasses that of its individual parent architectures: </a:t>
            </a:r>
            <a:r>
              <a:rPr lang="en-US" b="1" dirty="0">
                <a:latin typeface="Airal"/>
              </a:rPr>
              <a:t>Xception (98.24%)</a:t>
            </a:r>
            <a:r>
              <a:rPr lang="en-US" dirty="0">
                <a:latin typeface="Airal"/>
              </a:rPr>
              <a:t> and </a:t>
            </a:r>
            <a:r>
              <a:rPr lang="en-US" b="1" dirty="0">
                <a:latin typeface="Airal"/>
              </a:rPr>
              <a:t>InceptionV3 (97.34%)</a:t>
            </a:r>
            <a:r>
              <a:rPr lang="en-US" dirty="0">
                <a:latin typeface="Airal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ir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iral"/>
              </a:rPr>
              <a:t>Demonstrated Synergy:</a:t>
            </a:r>
            <a:r>
              <a:rPr lang="en-US" dirty="0">
                <a:latin typeface="Airal"/>
              </a:rPr>
              <a:t> This result validates our core hypothesis: combining Xception's </a:t>
            </a:r>
            <a:r>
              <a:rPr lang="en-US" dirty="0" err="1">
                <a:latin typeface="Airal"/>
              </a:rPr>
              <a:t>depthwise</a:t>
            </a:r>
            <a:r>
              <a:rPr lang="en-US" dirty="0">
                <a:latin typeface="Airal"/>
              </a:rPr>
              <a:t> separable convolutions with Inception's multi-scale feature extraction creates a </a:t>
            </a:r>
            <a:r>
              <a:rPr lang="en-US" b="1" dirty="0">
                <a:latin typeface="Airal"/>
              </a:rPr>
              <a:t>synergistic effect</a:t>
            </a:r>
            <a:r>
              <a:rPr lang="en-US" dirty="0">
                <a:latin typeface="Airal"/>
              </a:rPr>
              <a:t>, resulting in a more powerful and accurate classifier than either model alone.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Air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iral"/>
              </a:rPr>
              <a:t>Superiority Over Baselines:</a:t>
            </a:r>
            <a:r>
              <a:rPr lang="en-US" dirty="0">
                <a:latin typeface="Airal"/>
              </a:rPr>
              <a:t> All deep learning models (all &gt;95%) significantly outperformed the traditional machine learning baseline (</a:t>
            </a:r>
            <a:r>
              <a:rPr lang="en-US" b="1" dirty="0">
                <a:latin typeface="Airal"/>
              </a:rPr>
              <a:t>Random Forest at 87.65%</a:t>
            </a:r>
            <a:r>
              <a:rPr lang="en-US" dirty="0">
                <a:latin typeface="Airal"/>
              </a:rPr>
              <a:t>), confirming that CNNs are essential for this complex image task.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Air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Airal"/>
              </a:rPr>
              <a:t>Robust and Reliable:</a:t>
            </a:r>
            <a:r>
              <a:rPr lang="en-US" dirty="0">
                <a:latin typeface="Airal"/>
              </a:rPr>
              <a:t> The model's excellence is confirmed by a near-perfect </a:t>
            </a:r>
            <a:r>
              <a:rPr lang="en-US" b="1" dirty="0">
                <a:latin typeface="Airal"/>
              </a:rPr>
              <a:t>F1-Score (99.43%)</a:t>
            </a:r>
            <a:r>
              <a:rPr lang="en-US" dirty="0">
                <a:latin typeface="Airal"/>
              </a:rPr>
              <a:t> and </a:t>
            </a:r>
            <a:r>
              <a:rPr lang="en-US" b="1" dirty="0">
                <a:latin typeface="Airal"/>
              </a:rPr>
              <a:t>AUC (0.99)</a:t>
            </a:r>
            <a:r>
              <a:rPr lang="en-US" dirty="0">
                <a:latin typeface="Airal"/>
              </a:rPr>
              <a:t>, indicating it is not just accurate but also highly reliable, with exceptional precision and recall.</a:t>
            </a:r>
          </a:p>
        </p:txBody>
      </p:sp>
    </p:spTree>
    <p:extLst>
      <p:ext uri="{BB962C8B-B14F-4D97-AF65-F5344CB8AC3E}">
        <p14:creationId xmlns:p14="http://schemas.microsoft.com/office/powerpoint/2010/main" val="40661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62200" y="274236"/>
            <a:ext cx="966597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4680">
              <a:lnSpc>
                <a:spcPct val="100000"/>
              </a:lnSpc>
              <a:spcBef>
                <a:spcPts val="95"/>
              </a:spcBef>
            </a:pPr>
            <a:r>
              <a:rPr sz="3000" spc="-35" dirty="0"/>
              <a:t>R</a:t>
            </a:r>
            <a:r>
              <a:rPr sz="3000" spc="45" dirty="0"/>
              <a:t>E</a:t>
            </a:r>
            <a:r>
              <a:rPr sz="3000" spc="-45" dirty="0"/>
              <a:t>S</a:t>
            </a:r>
            <a:r>
              <a:rPr sz="3000" spc="20" dirty="0"/>
              <a:t>U</a:t>
            </a:r>
            <a:r>
              <a:rPr sz="3000" spc="-484" dirty="0"/>
              <a:t>L</a:t>
            </a:r>
            <a:r>
              <a:rPr sz="3000" spc="-30" dirty="0"/>
              <a:t>T</a:t>
            </a:r>
            <a:r>
              <a:rPr sz="3000" spc="-20" dirty="0"/>
              <a:t>S</a:t>
            </a:r>
            <a:r>
              <a:rPr sz="3000" spc="-145" dirty="0"/>
              <a:t> </a:t>
            </a:r>
            <a:r>
              <a:rPr sz="3000" spc="-45" dirty="0"/>
              <a:t>&amp;</a:t>
            </a:r>
            <a:r>
              <a:rPr sz="3000" spc="-300" dirty="0"/>
              <a:t> </a:t>
            </a:r>
            <a:r>
              <a:rPr sz="3000" spc="-10" dirty="0"/>
              <a:t>ANALYSIS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E5626A11-FAF7-8A72-5AC3-E7F24D865600}"/>
              </a:ext>
            </a:extLst>
          </p:cNvPr>
          <p:cNvSpPr txBox="1"/>
          <p:nvPr/>
        </p:nvSpPr>
        <p:spPr>
          <a:xfrm>
            <a:off x="5268213" y="1319606"/>
            <a:ext cx="5813425" cy="19229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2000" spc="-1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2000" spc="-1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2000" spc="-1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2000" spc="-1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2000" spc="-1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sz="2000" spc="-1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97FF7E2-AA31-ECD4-60F2-CC0B4503E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0283" y="822572"/>
            <a:ext cx="6889707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ir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Metrics Used: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 Accuracy, Precision, Recall, F1-Score.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ir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FusionNet-GLD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 model achieved the best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99.63%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ir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The confusion matrix shows exceptional diagonal dominance,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indicating extremely high predictive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ir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The model perfectly classified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Grape Esca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Grape Leaf blight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,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Healthy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 samples (276, 215, and 84 correct, respectively) with zero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ir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Only 2 misclassifications occurred in the entire validation 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(out of 809 total samples), demonstrating the model's robustness.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ir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✅ Conclusion: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 The proposed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FusionNet-GLD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 model effectively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reliably classifies grape leaf diseases with near-perfect accuracy,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iral"/>
              </a:rPr>
              <a:t>making it an outstanding and practical tool for agricultural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ir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0DF78BF-5E9C-4BA6-94D5-E74849F95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7" y="931487"/>
            <a:ext cx="4771788" cy="42501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8600" y="192741"/>
            <a:ext cx="924941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20" dirty="0"/>
              <a:t>CONCLUSION</a:t>
            </a:r>
            <a:r>
              <a:rPr sz="3000" spc="-175" dirty="0"/>
              <a:t> </a:t>
            </a:r>
            <a:r>
              <a:rPr sz="3000" dirty="0"/>
              <a:t>and</a:t>
            </a:r>
            <a:r>
              <a:rPr sz="3000" spc="-190" dirty="0"/>
              <a:t> </a:t>
            </a:r>
            <a:r>
              <a:rPr sz="3000" spc="-10" dirty="0"/>
              <a:t>FUTURE</a:t>
            </a:r>
            <a:r>
              <a:rPr sz="3000" spc="-210" dirty="0"/>
              <a:t> </a:t>
            </a:r>
            <a:r>
              <a:rPr sz="3000"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72A830-C0F2-4FB0-2305-5A9BAD226FD0}"/>
              </a:ext>
            </a:extLst>
          </p:cNvPr>
          <p:cNvSpPr txBox="1"/>
          <p:nvPr/>
        </p:nvSpPr>
        <p:spPr>
          <a:xfrm>
            <a:off x="917244" y="684916"/>
            <a:ext cx="1016439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Key Findings</a:t>
            </a:r>
          </a:p>
          <a:p>
            <a:pPr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FusionNet-GLD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(Xception + InceptionV3) model achieved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highest accuracy and F1-score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among all compared models.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dual-backbone architecture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effectively captured both fine-grained texture and high-level semantic features.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model showed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strong generalization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stability even on augmented and diverse datasets.</a:t>
            </a:r>
          </a:p>
          <a:p>
            <a:pPr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Significance of Results</a:t>
            </a:r>
          </a:p>
          <a:p>
            <a:pPr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Demonstrates the potential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hybrid deep learning architectures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accurate grape leaf disease detection.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Enables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early and automated diagnosis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reducing manual inspection and improving crop management.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smart agriculture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by providing a lightweight, efficient, and scalable detection solution.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6200" y="124596"/>
            <a:ext cx="966597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95"/>
              </a:spcBef>
            </a:pPr>
            <a:r>
              <a:rPr sz="3000" spc="-20" dirty="0"/>
              <a:t>CONCLUSION</a:t>
            </a:r>
            <a:r>
              <a:rPr sz="3000" spc="-175" dirty="0"/>
              <a:t> </a:t>
            </a:r>
            <a:r>
              <a:rPr sz="3000" dirty="0"/>
              <a:t>and</a:t>
            </a:r>
            <a:r>
              <a:rPr sz="3000" spc="-190" dirty="0"/>
              <a:t> </a:t>
            </a:r>
            <a:r>
              <a:rPr sz="3000" spc="-10" dirty="0"/>
              <a:t>FUTURE</a:t>
            </a:r>
            <a:r>
              <a:rPr sz="3000" spc="-210" dirty="0"/>
              <a:t> </a:t>
            </a:r>
            <a:r>
              <a:rPr sz="3000"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749470-D044-14AC-248E-0601B20CC86E}"/>
              </a:ext>
            </a:extLst>
          </p:cNvPr>
          <p:cNvSpPr txBox="1"/>
          <p:nvPr/>
        </p:nvSpPr>
        <p:spPr>
          <a:xfrm>
            <a:off x="557263" y="3276600"/>
            <a:ext cx="1144282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Limitations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model’s performance depends on the </a:t>
            </a:r>
            <a:r>
              <a:rPr lang="en-US" b="1" dirty="0"/>
              <a:t>quality and diversity of the dataset</a:t>
            </a:r>
            <a:r>
              <a:rPr lang="en-US" dirty="0"/>
              <a:t>, which may limit accuracy under unseen environmental conditions.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Real-time deployment</a:t>
            </a:r>
            <a:r>
              <a:rPr lang="en-US" dirty="0"/>
              <a:t> may face constraints due to hardware limitations in low-power or mobile devices.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currently focuses only on </a:t>
            </a:r>
            <a:r>
              <a:rPr lang="en-US" b="1" dirty="0"/>
              <a:t>leaf-level disease detection</a:t>
            </a:r>
            <a:r>
              <a:rPr lang="en-US" dirty="0"/>
              <a:t>, without integrating severity grading or environmental factors.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7B8552-9245-EF90-3EFA-B7B6B62AF9FA}"/>
              </a:ext>
            </a:extLst>
          </p:cNvPr>
          <p:cNvSpPr txBox="1"/>
          <p:nvPr/>
        </p:nvSpPr>
        <p:spPr>
          <a:xfrm>
            <a:off x="533400" y="859560"/>
            <a:ext cx="115228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Future Developments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Expand the dataset with </a:t>
            </a:r>
            <a:r>
              <a:rPr lang="en-US" b="1" dirty="0"/>
              <a:t>multi-varietal and field-captured images</a:t>
            </a:r>
            <a:r>
              <a:rPr lang="en-US" dirty="0"/>
              <a:t> to improve generalization and robustness.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 </a:t>
            </a:r>
            <a:r>
              <a:rPr lang="en-US" b="1" dirty="0"/>
              <a:t>Transformer-based modules</a:t>
            </a:r>
            <a:r>
              <a:rPr lang="en-US" dirty="0"/>
              <a:t> or </a:t>
            </a:r>
            <a:r>
              <a:rPr lang="en-US" b="1" dirty="0"/>
              <a:t>Vision-Language models</a:t>
            </a:r>
            <a:r>
              <a:rPr lang="en-US" dirty="0"/>
              <a:t> for enhanced contextual understanding.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 a </a:t>
            </a:r>
            <a:r>
              <a:rPr lang="en-US" b="1" dirty="0"/>
              <a:t>mobile or IoT-based real-time detection system</a:t>
            </a:r>
            <a:r>
              <a:rPr lang="en-US" dirty="0"/>
              <a:t> for on-field disease monitoring and farmer assistance.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600" y="234092"/>
            <a:ext cx="377571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7E52588-82F9-A8A5-DC0E-AA9FEE5F6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87413"/>
            <a:ext cx="11274756" cy="6924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 A. Seccia et al., 2015: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Analyzed the global trade competitiveness of table grapes.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 Khirade &amp; Patil, 2015: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Proposed a plant disease detection system using basic image processing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 F. Chollet, 2017: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Introduced the Xception architecture, detailing its use of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depthwise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separable convolutions.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 V. Kanabur et al., 2019: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hybrid feature extraction techniques and a CNN classifier for leaf disease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5 P. S. Sonar &amp; N. R. Wankhade, 2022: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Compared various machine learning techniques for grape leaf disease identification.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6 A. K. Uttam, 2022: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Applied deep learning models for the prediction of grape leaf diseases.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7 K. V. Narasimha Reddy &amp; E. Brahma Reddy, 2023: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a regression tree model for crop yield prediction based on weather and soil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8 Z. Chen et al., 2024: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Developed YOLOv8-ACCW, a lightweight, improved YOLOv8 model for grape leaf disease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9200" y="46867"/>
            <a:ext cx="377571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855E97-529D-FC56-BA71-FE81B42DB3B5}"/>
              </a:ext>
            </a:extLst>
          </p:cNvPr>
          <p:cNvSpPr txBox="1"/>
          <p:nvPr/>
        </p:nvSpPr>
        <p:spPr>
          <a:xfrm>
            <a:off x="232142" y="719731"/>
            <a:ext cx="113467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9 R. Karthik et al., 2024: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Proposed GrapeLeafNet, a dual-track fusion network combining Inception-ResNet and a Shuffle-Transformer.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3DE7199-B3CB-F6FD-00DB-901710712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142" y="1414486"/>
            <a:ext cx="11727716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10 M. J. Karim et al., 2024: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Deployed a lightweight CNN on an edge device (Nvidia Jetson Nano) for real-time grape leaf disease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11 I. Kunduracioglu &amp; I. Pacal, 2024: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Reviewed advancements in deep learning, including Vision Transformers, for classifying grape leaves and diseases.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12 P. M. S. Lakshmi et al., 2024: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ensemble-based transfer learning (VGG16, ResNet50, Xception) for plant disease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13 A. V. Kumar et al., 2024: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Applied a ResNet-CNN model for e-agriculture plant disease classification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14 Z. Fu et al., 2024: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Proposed a lightweight MHDI-DETR model for detecting grape leaf diseases.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B1C1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15 Q. Hu &amp; Y. Zhang, 2025: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B1C1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Developed GCS-YOLO, another lightweight grape leaf disease detection algorithm based on YOLOv8.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65703" y="457200"/>
            <a:ext cx="7168515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20" dirty="0"/>
              <a:t>QUESTIONS</a:t>
            </a:r>
            <a:r>
              <a:rPr sz="3000" spc="-150" dirty="0"/>
              <a:t> </a:t>
            </a:r>
            <a:r>
              <a:rPr sz="3000" spc="-45" dirty="0"/>
              <a:t>and</a:t>
            </a:r>
            <a:r>
              <a:rPr sz="3000" spc="-285" dirty="0"/>
              <a:t> </a:t>
            </a:r>
            <a:r>
              <a:rPr sz="3000" spc="-10" dirty="0"/>
              <a:t>ANSWERS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7244" y="6448890"/>
            <a:ext cx="91155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10-11-2025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2251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  <a:tabLst>
                <a:tab pos="1050290" algn="l"/>
              </a:tabLst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1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CG7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481455" y="1803019"/>
            <a:ext cx="9378950" cy="17312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8945" algn="ctr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Airal"/>
                <a:cs typeface="Times New Roman" panose="02020603050405020304"/>
              </a:rPr>
              <a:t>Thank</a:t>
            </a:r>
            <a:r>
              <a:rPr sz="2200" b="1" spc="-5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You!</a:t>
            </a:r>
            <a:r>
              <a:rPr sz="2200" b="1" spc="-30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From</a:t>
            </a:r>
            <a:r>
              <a:rPr sz="2200" b="1" spc="-55" dirty="0">
                <a:latin typeface="Airal"/>
                <a:cs typeface="Times New Roman" panose="02020603050405020304"/>
              </a:rPr>
              <a:t> </a:t>
            </a:r>
            <a:r>
              <a:rPr lang="en-US" sz="2200" b="1" spc="-25" dirty="0">
                <a:solidFill>
                  <a:srgbClr val="FF0000"/>
                </a:solidFill>
                <a:latin typeface="Airal"/>
                <a:cs typeface="Times New Roman" panose="02020603050405020304"/>
              </a:rPr>
              <a:t>CG</a:t>
            </a:r>
            <a:r>
              <a:rPr lang="en-IN" sz="2200" b="1" spc="-25" dirty="0">
                <a:solidFill>
                  <a:srgbClr val="FF0000"/>
                </a:solidFill>
                <a:latin typeface="Airal"/>
                <a:cs typeface="Times New Roman" panose="02020603050405020304"/>
              </a:rPr>
              <a:t>5</a:t>
            </a:r>
            <a:endParaRPr sz="2200" dirty="0">
              <a:latin typeface="Airal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200" dirty="0">
              <a:latin typeface="Airal"/>
              <a:cs typeface="Times New Roman" panose="02020603050405020304"/>
            </a:endParaRPr>
          </a:p>
          <a:p>
            <a:pPr marL="4445" algn="ctr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latin typeface="Airal"/>
                <a:cs typeface="Times New Roman" panose="02020603050405020304"/>
              </a:rPr>
              <a:t>We</a:t>
            </a:r>
            <a:r>
              <a:rPr sz="2200" b="1" spc="-40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appreciate</a:t>
            </a:r>
            <a:r>
              <a:rPr sz="2200" b="1" spc="-70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your</a:t>
            </a:r>
            <a:r>
              <a:rPr sz="2200" b="1" spc="-25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attention</a:t>
            </a:r>
            <a:r>
              <a:rPr sz="2200" b="1" spc="-45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and</a:t>
            </a:r>
            <a:r>
              <a:rPr sz="2200" b="1" spc="-25" dirty="0">
                <a:latin typeface="Airal"/>
                <a:cs typeface="Times New Roman" panose="02020603050405020304"/>
              </a:rPr>
              <a:t> </a:t>
            </a:r>
            <a:r>
              <a:rPr sz="2200" b="1" spc="-10" dirty="0">
                <a:latin typeface="Airal"/>
                <a:cs typeface="Times New Roman" panose="02020603050405020304"/>
              </a:rPr>
              <a:t>interest.</a:t>
            </a:r>
            <a:endParaRPr sz="2200" dirty="0">
              <a:latin typeface="Airal"/>
              <a:cs typeface="Times New Roman" panose="02020603050405020304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latin typeface="Airal"/>
                <a:cs typeface="Times New Roman" panose="02020603050405020304"/>
              </a:rPr>
              <a:t>Now,</a:t>
            </a:r>
            <a:r>
              <a:rPr sz="2200" spc="-1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we’d</a:t>
            </a:r>
            <a:r>
              <a:rPr sz="2200" spc="1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like</a:t>
            </a:r>
            <a:r>
              <a:rPr sz="2200" spc="-5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to</a:t>
            </a:r>
            <a:r>
              <a:rPr sz="2200" spc="-20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open the</a:t>
            </a:r>
            <a:r>
              <a:rPr sz="2200" b="1" spc="-15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floor</a:t>
            </a:r>
            <a:r>
              <a:rPr sz="2200" b="1" spc="-75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for</a:t>
            </a:r>
            <a:r>
              <a:rPr sz="2200" b="1" spc="-35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questions</a:t>
            </a:r>
            <a:r>
              <a:rPr sz="2200" b="1" spc="-45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and</a:t>
            </a:r>
            <a:r>
              <a:rPr sz="2200" b="1" spc="-40" dirty="0">
                <a:latin typeface="Airal"/>
                <a:cs typeface="Times New Roman" panose="02020603050405020304"/>
              </a:rPr>
              <a:t> </a:t>
            </a:r>
            <a:r>
              <a:rPr sz="2200" b="1" spc="-10" dirty="0">
                <a:latin typeface="Airal"/>
                <a:cs typeface="Times New Roman" panose="02020603050405020304"/>
              </a:rPr>
              <a:t>discussions.</a:t>
            </a:r>
            <a:endParaRPr sz="2200" dirty="0">
              <a:latin typeface="Airal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Airal"/>
                <a:cs typeface="Segoe UI Symbol" panose="020B0502040204020203"/>
              </a:rPr>
              <a:t>💬</a:t>
            </a:r>
            <a:r>
              <a:rPr sz="2200" spc="-80" dirty="0">
                <a:latin typeface="Airal"/>
                <a:cs typeface="Segoe UI Symbol" panose="020B0502040204020203"/>
              </a:rPr>
              <a:t> </a:t>
            </a:r>
            <a:r>
              <a:rPr sz="2200" i="1" dirty="0">
                <a:latin typeface="Airal"/>
                <a:cs typeface="Times New Roman" panose="02020603050405020304"/>
              </a:rPr>
              <a:t>Feel</a:t>
            </a:r>
            <a:r>
              <a:rPr sz="2200" i="1" spc="-15" dirty="0">
                <a:latin typeface="Airal"/>
                <a:cs typeface="Times New Roman" panose="02020603050405020304"/>
              </a:rPr>
              <a:t> </a:t>
            </a:r>
            <a:r>
              <a:rPr sz="2200" i="1" dirty="0">
                <a:latin typeface="Airal"/>
                <a:cs typeface="Times New Roman" panose="02020603050405020304"/>
              </a:rPr>
              <a:t>free</a:t>
            </a:r>
            <a:r>
              <a:rPr sz="2200" i="1" spc="-45" dirty="0">
                <a:latin typeface="Airal"/>
                <a:cs typeface="Times New Roman" panose="02020603050405020304"/>
              </a:rPr>
              <a:t> </a:t>
            </a:r>
            <a:r>
              <a:rPr sz="2200" i="1" dirty="0">
                <a:latin typeface="Airal"/>
                <a:cs typeface="Times New Roman" panose="02020603050405020304"/>
              </a:rPr>
              <a:t>to</a:t>
            </a:r>
            <a:r>
              <a:rPr sz="2200" i="1" spc="-40" dirty="0">
                <a:latin typeface="Airal"/>
                <a:cs typeface="Times New Roman" panose="02020603050405020304"/>
              </a:rPr>
              <a:t> </a:t>
            </a:r>
            <a:r>
              <a:rPr sz="2200" i="1" dirty="0">
                <a:latin typeface="Airal"/>
                <a:cs typeface="Times New Roman" panose="02020603050405020304"/>
              </a:rPr>
              <a:t>ask</a:t>
            </a:r>
            <a:r>
              <a:rPr sz="2200" i="1" spc="-25" dirty="0">
                <a:latin typeface="Airal"/>
                <a:cs typeface="Times New Roman" panose="02020603050405020304"/>
              </a:rPr>
              <a:t> </a:t>
            </a:r>
            <a:r>
              <a:rPr sz="2200" i="1" dirty="0">
                <a:latin typeface="Airal"/>
                <a:cs typeface="Times New Roman" panose="02020603050405020304"/>
              </a:rPr>
              <a:t>about</a:t>
            </a:r>
            <a:r>
              <a:rPr sz="2200" i="1" spc="-5" dirty="0">
                <a:latin typeface="Airal"/>
                <a:cs typeface="Times New Roman" panose="02020603050405020304"/>
              </a:rPr>
              <a:t> </a:t>
            </a:r>
            <a:r>
              <a:rPr sz="2200" i="1" dirty="0">
                <a:latin typeface="Airal"/>
                <a:cs typeface="Times New Roman" panose="02020603050405020304"/>
              </a:rPr>
              <a:t>the</a:t>
            </a:r>
            <a:r>
              <a:rPr sz="2200" i="1" spc="-80" dirty="0">
                <a:latin typeface="Airal"/>
                <a:cs typeface="Times New Roman" panose="02020603050405020304"/>
              </a:rPr>
              <a:t> </a:t>
            </a:r>
            <a:r>
              <a:rPr sz="2200" i="1" dirty="0">
                <a:latin typeface="Airal"/>
                <a:cs typeface="Times New Roman" panose="02020603050405020304"/>
              </a:rPr>
              <a:t>model,</a:t>
            </a:r>
            <a:r>
              <a:rPr sz="2200" i="1" spc="-55" dirty="0">
                <a:latin typeface="Airal"/>
                <a:cs typeface="Times New Roman" panose="02020603050405020304"/>
              </a:rPr>
              <a:t> </a:t>
            </a:r>
            <a:r>
              <a:rPr sz="2200" i="1" dirty="0">
                <a:latin typeface="Airal"/>
                <a:cs typeface="Times New Roman" panose="02020603050405020304"/>
              </a:rPr>
              <a:t>dataset,</a:t>
            </a:r>
            <a:r>
              <a:rPr sz="2200" i="1" spc="-80" dirty="0">
                <a:latin typeface="Airal"/>
                <a:cs typeface="Times New Roman" panose="02020603050405020304"/>
              </a:rPr>
              <a:t> </a:t>
            </a:r>
            <a:r>
              <a:rPr sz="2200" i="1" dirty="0">
                <a:latin typeface="Airal"/>
                <a:cs typeface="Times New Roman" panose="02020603050405020304"/>
              </a:rPr>
              <a:t>or</a:t>
            </a:r>
            <a:r>
              <a:rPr sz="2200" i="1" spc="-20" dirty="0">
                <a:latin typeface="Airal"/>
                <a:cs typeface="Times New Roman" panose="02020603050405020304"/>
              </a:rPr>
              <a:t> </a:t>
            </a:r>
            <a:r>
              <a:rPr sz="2200" i="1" dirty="0">
                <a:latin typeface="Airal"/>
                <a:cs typeface="Times New Roman" panose="02020603050405020304"/>
              </a:rPr>
              <a:t>future</a:t>
            </a:r>
            <a:r>
              <a:rPr sz="2200" i="1" spc="-70" dirty="0">
                <a:latin typeface="Airal"/>
                <a:cs typeface="Times New Roman" panose="02020603050405020304"/>
              </a:rPr>
              <a:t> </a:t>
            </a:r>
            <a:r>
              <a:rPr sz="2200" i="1" spc="-10" dirty="0">
                <a:latin typeface="Airal"/>
                <a:cs typeface="Times New Roman" panose="02020603050405020304"/>
              </a:rPr>
              <a:t>work!</a:t>
            </a:r>
            <a:endParaRPr sz="2200" dirty="0">
              <a:latin typeface="Airal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600" y="172186"/>
            <a:ext cx="9665970" cy="4738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6890">
              <a:lnSpc>
                <a:spcPct val="100000"/>
              </a:lnSpc>
              <a:spcBef>
                <a:spcPts val="95"/>
              </a:spcBef>
            </a:pPr>
            <a:r>
              <a:rPr sz="3000"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917244" y="6448890"/>
            <a:ext cx="72707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1</a:t>
            </a:r>
            <a:r>
              <a:rPr lang="en-US" dirty="0"/>
              <a:t>0</a:t>
            </a:r>
            <a:r>
              <a:rPr dirty="0"/>
              <a:t>-1</a:t>
            </a:r>
            <a:r>
              <a:rPr lang="en-US" dirty="0"/>
              <a:t>1</a:t>
            </a:r>
            <a:r>
              <a:rPr dirty="0"/>
              <a:t>-</a:t>
            </a:r>
            <a:r>
              <a:rPr spc="-20" dirty="0"/>
              <a:t>202</a:t>
            </a:r>
            <a:r>
              <a:rPr lang="en-US" spc="-20" dirty="0"/>
              <a:t>5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Review</a:t>
            </a:r>
            <a:r>
              <a:rPr spc="-60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05958" y="6448890"/>
            <a:ext cx="89484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Batch</a:t>
            </a:r>
            <a:r>
              <a:rPr sz="1200" spc="-7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No.</a:t>
            </a:r>
            <a:r>
              <a:rPr lang="en-US"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CG5</a:t>
            </a:r>
            <a:endParaRPr sz="12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4182" y="6448890"/>
            <a:ext cx="121285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Department </a:t>
            </a:r>
            <a:r>
              <a:rPr sz="120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200" spc="70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00" spc="-25" dirty="0">
                <a:solidFill>
                  <a:srgbClr val="878787"/>
                </a:solidFill>
                <a:latin typeface="Times New Roman" panose="02020603050405020304"/>
                <a:cs typeface="Times New Roman" panose="02020603050405020304"/>
              </a:rPr>
              <a:t>CSE</a:t>
            </a:r>
            <a:endParaRPr sz="1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18516" y="1112173"/>
            <a:ext cx="10556240" cy="48134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Airal"/>
                <a:cs typeface="Times New Roman" panose="02020603050405020304"/>
              </a:rPr>
              <a:t>Thank</a:t>
            </a:r>
            <a:r>
              <a:rPr sz="2200" b="1" spc="-50" dirty="0">
                <a:latin typeface="Airal"/>
                <a:cs typeface="Times New Roman" panose="02020603050405020304"/>
              </a:rPr>
              <a:t> </a:t>
            </a:r>
            <a:r>
              <a:rPr sz="2200" b="1" spc="-20" dirty="0">
                <a:latin typeface="Airal"/>
                <a:cs typeface="Times New Roman" panose="02020603050405020304"/>
              </a:rPr>
              <a:t>You!</a:t>
            </a:r>
            <a:endParaRPr sz="2200" dirty="0">
              <a:latin typeface="Airal"/>
              <a:cs typeface="Times New Roman" panose="02020603050405020304"/>
            </a:endParaRPr>
          </a:p>
          <a:p>
            <a:pPr marL="12700" marR="761365">
              <a:lnSpc>
                <a:spcPct val="100000"/>
              </a:lnSpc>
            </a:pPr>
            <a:r>
              <a:rPr sz="2200" dirty="0">
                <a:latin typeface="Airal"/>
                <a:cs typeface="Times New Roman" panose="02020603050405020304"/>
              </a:rPr>
              <a:t>We</a:t>
            </a:r>
            <a:r>
              <a:rPr sz="2200" spc="-30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sincerely</a:t>
            </a:r>
            <a:r>
              <a:rPr sz="2200" spc="-15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thank</a:t>
            </a:r>
            <a:r>
              <a:rPr sz="2200" b="1" spc="-75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the</a:t>
            </a:r>
            <a:r>
              <a:rPr sz="2200" b="1" spc="-50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organizers,</a:t>
            </a:r>
            <a:r>
              <a:rPr sz="2200" b="1" spc="-25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faculty,</a:t>
            </a:r>
            <a:r>
              <a:rPr sz="2200" b="1" spc="-60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and</a:t>
            </a:r>
            <a:r>
              <a:rPr sz="2200" b="1" spc="-65" dirty="0">
                <a:latin typeface="Airal"/>
                <a:cs typeface="Times New Roman" panose="02020603050405020304"/>
              </a:rPr>
              <a:t> </a:t>
            </a:r>
            <a:r>
              <a:rPr sz="2200" b="1" dirty="0">
                <a:latin typeface="Airal"/>
                <a:cs typeface="Times New Roman" panose="02020603050405020304"/>
              </a:rPr>
              <a:t>audience</a:t>
            </a:r>
            <a:r>
              <a:rPr sz="2200" b="1" spc="-20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for</a:t>
            </a:r>
            <a:r>
              <a:rPr sz="2200" spc="-3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giving</a:t>
            </a:r>
            <a:r>
              <a:rPr sz="2200" spc="-6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us</a:t>
            </a:r>
            <a:r>
              <a:rPr sz="2200" spc="-60" dirty="0">
                <a:latin typeface="Airal"/>
                <a:cs typeface="Times New Roman" panose="02020603050405020304"/>
              </a:rPr>
              <a:t> </a:t>
            </a:r>
            <a:r>
              <a:rPr sz="2200" spc="-25" dirty="0">
                <a:latin typeface="Airal"/>
                <a:cs typeface="Times New Roman" panose="02020603050405020304"/>
              </a:rPr>
              <a:t>the </a:t>
            </a:r>
            <a:r>
              <a:rPr sz="2200" dirty="0">
                <a:latin typeface="Airal"/>
                <a:cs typeface="Times New Roman" panose="02020603050405020304"/>
              </a:rPr>
              <a:t>opportunity</a:t>
            </a:r>
            <a:r>
              <a:rPr sz="2200" spc="-4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to</a:t>
            </a:r>
            <a:r>
              <a:rPr sz="2200" spc="-70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present</a:t>
            </a:r>
            <a:r>
              <a:rPr sz="2200" spc="-30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our</a:t>
            </a:r>
            <a:r>
              <a:rPr sz="2200" spc="-70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project</a:t>
            </a:r>
            <a:r>
              <a:rPr sz="2200" spc="-25" dirty="0">
                <a:latin typeface="Airal"/>
                <a:cs typeface="Times New Roman" panose="02020603050405020304"/>
              </a:rPr>
              <a:t> </a:t>
            </a:r>
            <a:r>
              <a:rPr sz="2200" spc="-50" dirty="0">
                <a:latin typeface="Airal"/>
                <a:cs typeface="Times New Roman" panose="02020603050405020304"/>
              </a:rPr>
              <a:t>—</a:t>
            </a:r>
            <a:endParaRPr sz="2200" dirty="0">
              <a:latin typeface="Airal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latin typeface="Airal"/>
                <a:cs typeface="Times New Roman" panose="02020603050405020304"/>
              </a:rPr>
              <a:t>“</a:t>
            </a:r>
            <a:r>
              <a:rPr lang="en-US" altLang="en-US" sz="2200" b="1" dirty="0">
                <a:solidFill>
                  <a:schemeClr val="tx1"/>
                </a:solidFill>
                <a:latin typeface="Airal"/>
              </a:rPr>
              <a:t>FusionNet-GLD: A Dual-Backbone CNN </a:t>
            </a:r>
            <a:r>
              <a:rPr lang="en-US" altLang="en-US" sz="2200" b="1" dirty="0" err="1">
                <a:solidFill>
                  <a:schemeClr val="tx1"/>
                </a:solidFill>
                <a:latin typeface="Airal"/>
              </a:rPr>
              <a:t>ModelCombining</a:t>
            </a:r>
            <a:r>
              <a:rPr lang="en-US" altLang="en-US" sz="2200" b="1" dirty="0">
                <a:solidFill>
                  <a:schemeClr val="tx1"/>
                </a:solidFill>
                <a:latin typeface="Airal"/>
              </a:rPr>
              <a:t> Xception and Inception </a:t>
            </a:r>
            <a:r>
              <a:rPr lang="en-US" altLang="en-US" sz="2200" b="1" dirty="0" err="1">
                <a:solidFill>
                  <a:schemeClr val="tx1"/>
                </a:solidFill>
                <a:latin typeface="Airal"/>
              </a:rPr>
              <a:t>fo</a:t>
            </a:r>
            <a:r>
              <a:rPr lang="en-IN" altLang="en-US" sz="2200" b="1" dirty="0">
                <a:solidFill>
                  <a:schemeClr val="tx1"/>
                </a:solidFill>
                <a:latin typeface="Airal"/>
              </a:rPr>
              <a:t>r </a:t>
            </a:r>
            <a:r>
              <a:rPr lang="en-US" altLang="en-US" sz="2200" b="1" dirty="0">
                <a:solidFill>
                  <a:schemeClr val="tx1"/>
                </a:solidFill>
                <a:latin typeface="Airal"/>
              </a:rPr>
              <a:t>Grape Leaf</a:t>
            </a:r>
            <a:r>
              <a:rPr lang="en-IN" altLang="en-US" sz="2200" b="1" dirty="0">
                <a:solidFill>
                  <a:schemeClr val="tx1"/>
                </a:solidFill>
                <a:latin typeface="Airal"/>
              </a:rPr>
              <a:t>  </a:t>
            </a:r>
            <a:r>
              <a:rPr lang="en-US" altLang="en-US" sz="2200" b="1" dirty="0">
                <a:solidFill>
                  <a:schemeClr val="tx1"/>
                </a:solidFill>
                <a:latin typeface="Airal"/>
              </a:rPr>
              <a:t>Disease Recognition.</a:t>
            </a:r>
            <a:r>
              <a:rPr sz="2200" b="1" spc="-10" dirty="0">
                <a:latin typeface="Airal"/>
                <a:cs typeface="Times New Roman" panose="02020603050405020304"/>
              </a:rPr>
              <a:t>”</a:t>
            </a:r>
            <a:endParaRPr sz="2200" dirty="0">
              <a:latin typeface="Airal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iral"/>
                <a:cs typeface="Times New Roman" panose="02020603050405020304"/>
              </a:rPr>
              <a:t>Your</a:t>
            </a:r>
            <a:r>
              <a:rPr sz="2200" spc="-80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attention,</a:t>
            </a:r>
            <a:r>
              <a:rPr sz="2200" spc="-3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feedback,</a:t>
            </a:r>
            <a:r>
              <a:rPr sz="2200" spc="-40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and</a:t>
            </a:r>
            <a:r>
              <a:rPr sz="2200" spc="-6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questions</a:t>
            </a:r>
            <a:r>
              <a:rPr sz="2200" spc="-4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are</a:t>
            </a:r>
            <a:r>
              <a:rPr sz="2200" spc="-60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truly</a:t>
            </a:r>
            <a:r>
              <a:rPr sz="2200" spc="-80" dirty="0">
                <a:latin typeface="Airal"/>
                <a:cs typeface="Times New Roman" panose="02020603050405020304"/>
              </a:rPr>
              <a:t> </a:t>
            </a:r>
            <a:r>
              <a:rPr sz="2200" spc="-10" dirty="0">
                <a:latin typeface="Airal"/>
                <a:cs typeface="Times New Roman" panose="02020603050405020304"/>
              </a:rPr>
              <a:t>appreciated.</a:t>
            </a:r>
            <a:endParaRPr sz="2200" dirty="0">
              <a:latin typeface="Airal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Airal"/>
                <a:cs typeface="Times New Roman" panose="02020603050405020304"/>
              </a:rPr>
              <a:t>For</a:t>
            </a:r>
            <a:r>
              <a:rPr sz="2200" spc="-6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any</a:t>
            </a:r>
            <a:r>
              <a:rPr sz="2200" spc="-7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further</a:t>
            </a:r>
            <a:r>
              <a:rPr sz="2200" spc="-20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discussions</a:t>
            </a:r>
            <a:r>
              <a:rPr sz="2200" spc="-20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or</a:t>
            </a:r>
            <a:r>
              <a:rPr sz="2200" spc="-60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collaboration</a:t>
            </a:r>
            <a:r>
              <a:rPr sz="2200" spc="-30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inquiries,</a:t>
            </a:r>
            <a:r>
              <a:rPr sz="2200" spc="-30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feel</a:t>
            </a:r>
            <a:r>
              <a:rPr sz="2200" spc="-2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free</a:t>
            </a:r>
            <a:r>
              <a:rPr sz="2200" spc="-3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to</a:t>
            </a:r>
            <a:r>
              <a:rPr sz="2200" spc="-75" dirty="0">
                <a:latin typeface="Airal"/>
                <a:cs typeface="Times New Roman" panose="02020603050405020304"/>
              </a:rPr>
              <a:t> </a:t>
            </a:r>
            <a:r>
              <a:rPr sz="2200" dirty="0">
                <a:latin typeface="Airal"/>
                <a:cs typeface="Times New Roman" panose="02020603050405020304"/>
              </a:rPr>
              <a:t>contact</a:t>
            </a:r>
            <a:r>
              <a:rPr sz="2200" spc="-45" dirty="0">
                <a:latin typeface="Airal"/>
                <a:cs typeface="Times New Roman" panose="02020603050405020304"/>
              </a:rPr>
              <a:t> </a:t>
            </a:r>
            <a:r>
              <a:rPr sz="2200" spc="-25" dirty="0">
                <a:latin typeface="Airal"/>
                <a:cs typeface="Times New Roman" panose="02020603050405020304"/>
              </a:rPr>
              <a:t>us:</a:t>
            </a:r>
            <a:endParaRPr lang="en-IN" sz="2200" spc="-25" dirty="0">
              <a:latin typeface="Airal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endParaRPr lang="en-IN" sz="2200" spc="-25" dirty="0">
              <a:latin typeface="Airal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lang="en-IN" sz="2200" dirty="0">
                <a:latin typeface="Airal"/>
                <a:cs typeface="Segoe UI Symbol" panose="020B0502040204020203"/>
              </a:rPr>
              <a:t>📧</a:t>
            </a:r>
            <a:r>
              <a:rPr lang="en-IN" sz="2200" spc="-120" dirty="0">
                <a:latin typeface="Airal"/>
                <a:cs typeface="Segoe UI Symbol" panose="020B0502040204020203"/>
              </a:rPr>
              <a:t> </a:t>
            </a:r>
            <a:r>
              <a:rPr lang="en-IN" sz="2200" b="1" dirty="0">
                <a:latin typeface="Airal"/>
                <a:cs typeface="Times New Roman" panose="02020603050405020304"/>
              </a:rPr>
              <a:t>Contact</a:t>
            </a:r>
            <a:r>
              <a:rPr lang="en-IN" sz="2200" b="1" spc="-60" dirty="0">
                <a:latin typeface="Airal"/>
                <a:cs typeface="Times New Roman" panose="02020603050405020304"/>
              </a:rPr>
              <a:t> </a:t>
            </a:r>
            <a:r>
              <a:rPr lang="en-IN" sz="2200" b="1" spc="-10" dirty="0">
                <a:latin typeface="Airal"/>
                <a:cs typeface="Times New Roman" panose="02020603050405020304"/>
              </a:rPr>
              <a:t>Information</a:t>
            </a:r>
          </a:p>
          <a:p>
            <a:pPr algn="l"/>
            <a:r>
              <a:rPr lang="en-IN" sz="2200" dirty="0">
                <a:latin typeface="Airal"/>
                <a:hlinkClick r:id="rId2"/>
              </a:rPr>
              <a:t>shafia2801@gmail.com</a:t>
            </a:r>
          </a:p>
          <a:p>
            <a:pPr algn="l"/>
            <a:r>
              <a:rPr lang="en-IN" sz="2200" dirty="0">
                <a:latin typeface="Airal"/>
                <a:hlinkClick r:id="rId2"/>
              </a:rPr>
              <a:t>soudagarminhaz@gmail.com</a:t>
            </a:r>
            <a:endParaRPr lang="en-IN" sz="2200" dirty="0">
              <a:latin typeface="Airal"/>
            </a:endParaRPr>
          </a:p>
          <a:p>
            <a:pPr algn="l"/>
            <a:r>
              <a:rPr lang="en-IN" sz="2200" dirty="0">
                <a:latin typeface="Airal"/>
                <a:hlinkClick r:id="rId3"/>
              </a:rPr>
              <a:t>chattinavya@gmail.com</a:t>
            </a:r>
            <a:endParaRPr lang="en-IN" sz="2200" dirty="0">
              <a:latin typeface="Airal"/>
            </a:endParaRPr>
          </a:p>
          <a:p>
            <a:endParaRPr lang="en-IN" sz="2400" dirty="0"/>
          </a:p>
          <a:p>
            <a:pPr marL="742315" algn="ctr">
              <a:lnSpc>
                <a:spcPct val="100000"/>
              </a:lnSpc>
            </a:pP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3125</Words>
  <Application>Microsoft Office PowerPoint</Application>
  <PresentationFormat>Widescreen</PresentationFormat>
  <Paragraphs>455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Airal</vt:lpstr>
      <vt:lpstr>Arial</vt:lpstr>
      <vt:lpstr>Arial MT</vt:lpstr>
      <vt:lpstr>Calibri</vt:lpstr>
      <vt:lpstr>Times New Roman</vt:lpstr>
      <vt:lpstr>Office Theme</vt:lpstr>
      <vt:lpstr>Department of Computer Science and Engineering FusionNet-GLD: A Dual-Backbone CNN ModelCombining Xception and Inception for Grape Leaf  Disease Recognition</vt:lpstr>
      <vt:lpstr>OUTLINE</vt:lpstr>
      <vt:lpstr>ABSTRACT</vt:lpstr>
      <vt:lpstr>INTRODUCTION</vt:lpstr>
      <vt:lpstr>LITERATURE SURVEY</vt:lpstr>
      <vt:lpstr>RESEARCH GAPS</vt:lpstr>
      <vt:lpstr>PROBLEM STATEMENT</vt:lpstr>
      <vt:lpstr>OBJECTIVES</vt:lpstr>
      <vt:lpstr> FLOW DIAGRAM</vt:lpstr>
      <vt:lpstr>METHODOLOGY</vt:lpstr>
      <vt:lpstr>IMPLEMENTATION</vt:lpstr>
      <vt:lpstr>RESULTS &amp; ANALYSIS</vt:lpstr>
      <vt:lpstr>RESULTS &amp; ANALYSIS</vt:lpstr>
      <vt:lpstr>RESULTS &amp; ANALYSIS</vt:lpstr>
      <vt:lpstr>RESULTS &amp; ANALYSIS</vt:lpstr>
      <vt:lpstr>CONCLUSION and FUTURE SCOPE</vt:lpstr>
      <vt:lpstr>CONCLUSION and FUTURE SCOPE</vt:lpstr>
      <vt:lpstr>REFERENCES</vt:lpstr>
      <vt:lpstr>REFERENCES</vt:lpstr>
      <vt:lpstr>QUESTIONS and ANSWERS</vt:lpstr>
      <vt:lpstr>ACKNOWLEGEMENTS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lakshmi sura</dc:creator>
  <cp:lastModifiedBy>shafia zainab syed</cp:lastModifiedBy>
  <cp:revision>4</cp:revision>
  <dcterms:created xsi:type="dcterms:W3CDTF">2025-11-07T12:23:00Z</dcterms:created>
  <dcterms:modified xsi:type="dcterms:W3CDTF">2025-11-09T16:30:28Z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2025-11-06T05:30:00Z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2025-11-07T05:30:00Z</vt:filetime>
  </property>
  <property fmtid="{D5CDD505-2E9C-101B-9397-08002B2CF9AE}" pid="5" name="Producer">
    <vt:lpwstr>www.ilovepdf.com</vt:lpwstr>
  </property>
  <property fmtid="{D5CDD505-2E9C-101B-9397-08002B2CF9AE}" pid="6" name="ICV">
    <vt:lpwstr>AED3486DF5B24101AAC4ADAD9BF53C8C_13</vt:lpwstr>
  </property>
  <property fmtid="{D5CDD505-2E9C-101B-9397-08002B2CF9AE}" pid="7" name="KSOProductBuildVer">
    <vt:lpwstr>1033-12.2.0.23131</vt:lpwstr>
  </property>
</Properties>
</file>